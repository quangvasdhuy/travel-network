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225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chào thầy và các bạn. Nhóm em xin trình bày đồ án Travel Network — một mạng xã hội dành cho du khách, sử dụng cơ sở dữ liệu Couchbase.
[Nhớ điền tên nhóm và tên giảng viên vào slide trước khi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của nhóm em gồm sáu phần. PHẦN 3, 4, 5 LÀ PHẦN CHÍNH, nói về Couchbase và cách nhóm em thiết kế dữ liệu — em sẽ dành nhiều thời gian nhất cho ba phần này.
[Chuyển slide ngay, không nên dừng lâu ở mục lục.]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có sáu nhóm chức năng chính. Người dùng tạo hồ sơ, đăng bài về chuyến đi, lập kế hoạch cho chuyến đi sắp tới, theo dõi người khác và xem bảng tin.
MỖI CHỨC NĂNG TƯƠNG ỨNG VỚI MỘT LOẠI DỮ LIỆU MÀ HỆ THỐNG PHẢI LƯU. Ví dụ chức năng đăng bài thì cần lưu bài viết, chức năng theo dõi thì cần lưu quan hệ theo dõi. Em sẽ nói kỹ ở phần mô hình dữ liệu.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lấy ví dụ một chuyến đi.
Nó có tên, ngày bắt đầu, ngày kết thúc — những cái này đơn giản, vừa với một ô trong bảng.
Nhưng nó còn có DANH SÁCH ĐIỂM ĐẾN, và có LỊCH TRÌNH TỪNG NGÀY MÀ MỖI NGÀY LẠI CHỨA NHIỀU HOẠT ĐỘNG. Tức là DANH SÁCH NẰM TRONG DANH SÁCH.
Dữ liệu như thế này không nhét được vào một dòng của bảng. Đây chính là lý do nhóm em phải cân nhắc loại cơ sở dữ liệu khác.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có thử phác lược đồ quan hệ tương đương cho một chuyến đi. Kết quả là sáu bảng, và cột hai với cột ba mới là phần đáng chú ý — khoá chính và khoá ngoại của từng bảng.
Xin thầy chú ý hai bảng có KHOÁ CHÍNH GHÉP là trip_destinations và trip_participants. Vì đó là quan hệ nhiều–nhiều nên khoá chính phải gồm hai cột.
Còn itinerary_activities thì tham chiếu tới itinerary_days chứ không tham chiếu thẳng tới trips — vì hoạt động thuộc về một ngày, ngày mới thuộc về chuyến đi. Đó là quan hệ ba tầng.
Tổng cộng có TÁM KHOÁ NGOẠI. Tám ràng buộc này phải khai báo và duy trì, chỉ để lưu đúng MỘT chuyến đi cho toàn vẹn.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Hậu quả của việc tách bảng nằm ở đây.
Mỗi lần hiển thị MỘT chuyến đi lên màn hình, hệ thống phải JOIN sáu bảng lại theo tám khoá ngoại vừa nói. Người dùng cuộn bảng tin xem hai mươi bài là hai mươi lần ghép như vậy. Càng nhiều dữ liệu thì càng chậm.
Và mỗi lần muốn thêm một trường mới thì phải chạy ALTER TABLE — với bảng lớn thì đó là thao tác phải lên lịch bảo trì.
[Nếu lớp chưa quen khái niệm JOIN, đọc chậm phần ví dụ sáu quyển sổ ở dưới.]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nói nhóm em dùng Couchbase như thế nào, em xin giới thiệu ngắn gọn Couchbase là gì.
Đây là một HỆ QUẢN TRỊ CƠ SỞ DỮ LIỆU NoSQL MÃ NGUỒN MỞ, ra đời năm 2011, chuyên lưu dữ liệu dạng JSON.
Năm đặc điểm ở dưới. Thứ nhất, nó lưu theo document chứ không theo bảng và dòng — em sẽ giải thích ở slide sau.
Thứ hai, nó CHẠY TRÊN NHIỀU MÁY CÙNG LÚC, gọi là cluster. Khi dữ liệu nhiều lên thì thêm máy chứ không cần nâng cấp một máy cho thật mạnh.
Thứ ba, và đây là điểm em thấy đặc biệt: Couchbase CÓ SẴN BỘ NHỚ ĐỆM BÊN TRONG. Dữ liệu hay dùng được giữ trên RAM nên đọc rất nhanh. Với hệ quản trị khác thì thường phải cài thêm một phần mềm riêng như Redis để làm việc này.
Thứ tư, nó có giao diện web để xem và sửa dữ liệu trực tiếp — phần demo em sẽ mở cho thầy xem.
[Nếu thầy hỏi phiên bản: mở Couchbase Console, góc dưới bên trái có ghi số phiên bản đang chạy. Nên kiểm tra trước hôm bảo vệ.]</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Couchbase là cơ sở dữ liệu NoSQL dạng tài liệu. Thay vì tách dữ liệu ra nhiều bảng, nó lưu nguyên một chuyến đi thành một document JSON.
Em xin lấy một hình ảnh so sánh. CƠ SỞ DỮ LIỆU QUAN HỆ giống như tháo rời một chiếc xe đạp ra thành khung, bánh, ghi-đông, xích, rồi cất mỗi loại vào một thùng riêng — muốn dùng thì phải lấy ra lắp lại. CƠ SỞ DỮ LIỆU TÀI LIỆU thì cất nguyên cả chiếc xe vào một chỗ, muốn dùng thì lấy ra đạp luôn.
Và đây là điểm em thấy hay nhất, cũng là lý do nhóm em chọn Couchbase thay vì NoSQL khác: NÓ VẪN CHO VIẾT CÂU LỆNH GIỐNG SQL — có SELECT, FROM, WHERE, ORDER BY. Nên kiến thức của môn mình học vẫn dùng được hoàn toàn.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có cân nhắc ba lựa chọn, và bảng này là lý do quyết định.
CỘT MỘT là hệ quản trị quan hệ như MySQL. Ưu điểm là mình đã quen SQL, nhưng như phần hai đã trình bày, dữ liệu lồng nhau của đồ án phải tách ra rất nhiều bảng.
CỘT HAI là MongoDB. Nó lưu được dữ liệu lồng nhau, nhưng ngôn ngữ truy vấn là cú pháp riêng, phải học lại từ đầu.
CỘT BA là Couchbase — và đây chính là lý do nhóm em chọn: NÓ VỪA LƯU ĐƯỢC DỮ LIỆU LỒNG NHAU NHƯ MONGODB, VỪA GIỮ ĐƯỢC SQL MÀ MÌNH ĐÃ HỌC.
Thêm hai điểm ở hai dòng cuối: Couchbase có sẵn bộ nhớ đệm bên trong nên không phải cài thêm phần mềm riêng, và nếu biết khoá thì nó lấy dữ liệu thẳng chứ không phải tra index.
[Đây là slide thầy hay hỏi thêm. Nếu bị hỏi "sao không dùng MongoDB?", nhấn đúng một ý: MongoDB không có SQL.]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để đối chiếu thuật ngữ mới với những gì mình đã quen. Bucket tương ứng database, collection tương ứng bảng, document tương ứng một dòng, field tương ứng một cột.
Em xin lưu ý dòng cuối cùng: COUCHBASE KHÔNG CÓ KHOÁ NGOẠI. Nghĩa là cơ sở dữ liệu không tự kiểm tra xem mã tác giả ghi trên bài viết có tồn tại thật hay không. Việc kiểm tra đó do code ứng dụng của nhóm em làm.
Đây là điểm ĐÁNH ĐỔI khi dùng NoSQL, và nhóm em xin nêu chủ động chứ không né tránh.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chia dữ liệu thành bốn bucket. Bucket giống như bốn tủ hồ sơ khác nhau — chia ra để dữ liệu không lẫn lộn và dễ quản lý riêng.
Xin thầy chú ý bucket travel_trips: nó chứa HAI loại dữ liệu là chuyến đi và điểm đến.
Vì không có bảng để phân biệt hai loại đó, nên MỖI DOCUMENT PHẢI MANG MỘT TRƯỜNG TÊN LÀ "type" ĐỂ TỰ KHAI BÁO MÌNH LÀ LOẠI GÌ. Khi truy vấn thì nhóm em thêm điều kiện lọc theo trường này. Đây là cách làm phổ biến trong Couchbase.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document người dùng thật trong hệ thống của nhóm em. Em xin đọc chậm.
Ngoặc nhọn là một khối dữ liệu. Bên trong là các cặp tên và giá trị. Dòng username là trường đơn giản, giống một cột trong SQL.
Nhưng xin thầy chú ý dòng "profile" — nó là NGOẶC NHỌN NẰM TRONG NGOẶC NHỌN, tức là dữ liệu lồng nhau. Và bên trong nó lại có "location" lồng thêm một tầng nữa.
Dòng "interests" là một DANH SÁCH NẰM GỌN TRONG MỘT TRƯỜNG.
Nếu làm bằng SQL, riêng khối này cần năm bảng: users, user_profiles, user_locations, user_interests, user_stats. Ở đây là một document, lấy về bằng một lần đọc duy nhất.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document có một khoá để định danh, tương đương khoá chính trong SQL.
Em xin dùng một hình ảnh: bucket là một tủ hồ sơ khổng lồ, mỗi document là một tập hồ sơ, và KHOÁ LÀ CON SỐ DÁN NGOÀI BÌA TẬP HỒ SƠ ĐÓ.
Điểm khác biệt so với SQL: khoá chính trong SQL thường là số tự tăng do máy sinh ra. Còn ở Couchbase, LẬP TRÌNH VIÊN TỰ ĐẶT TÊN KHOÁ — và đặt khéo thì rất lợi.
Nhóm em đặt theo quy tắc: tên loại dữ liệu, hai dấu hai chấm, rồi mã. Ví dụ destination::VN::hoi-an — nhìn vào là biết ngay đây là điểm đến Hội An ở Việt Nam, không cần mở ra xem.
Lợi ích lớn nhất nằm ở dòng cuối: nếu biết khoá thì hệ thống lấy dữ liệu ra ngay, giống như biết số tập hồ sơ thì rút ra luôn, khỏi phải lật từng tập.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nhóm em tâm đắc nhất, em xin nói chậm.
Bài toán: làm sao biết A có đang theo dõi B không? Trong SQL, đây là một câu SELECT với điều kiện trên hai cột — tức là một phép TÌM KIẾM.
Nhóm em làm khác: GHÉP LUÔN MÃ CỦA A VÀ MÃ CỦA B VÀO TÊN KHOÁ. Nên câu hỏi "A có theo dõi B không" biến thành "có tồn tại document mang khoá đó không". Lấy được là có, báo không tìm thấy là chưa. Hệ thống không phải tìm kiếm gì cả — hỏi thẳng là có câu trả lời.
Em xin lấy ví dụ đời thường: thay vì lục sổ xem An đã kết bạn với Mai chưa, mình quy ước mỗi cặp được cấp một tấm thẻ ghi sẵn "An–Mai". Muốn kiểm tra thì chỉ cần hỏi có tấm thẻ đó không.
Và thêm một lợi ích ở dòng cuối: nếu người dùng bấm nút Theo dõi hai lần do mạng lag, lần thứ hai sẽ tạo trùng khoá và cơ sở dữ liệu TỰ BÁO LỖI. Tức là nhóm em được một ràng buộc chống trùng mà không phải viết code kiểm tra.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Couchbase cho hai cách lấy dữ liệu, và biết chọn đúng cách là điều quan trọng nhất khi lập trình với nó.
Quay lại hình ảnh tủ hồ sơ. CÁCH MỘT: mình biết số hồ sơ nên rút ra luôn — nhanh nhất. CÁCH HAI: mình không biết số, chỉ biết "tìm người ở Đà Nẵng", nên phải lật tìm hoặc tra mục lục.
Ví dụ cụ thể trong đồ án: người dùng đã đăng nhập rồi thì hệ thống biết id của họ, ghép thành khoá là đọc được ngay — dùng cách một. Còn khi người dùng gõ EMAIL để đăng nhập thì email không nằm trong khoá, nên phải dùng cách hai.
Nguyên tắc nhóm em áp dụng khắp mã nguồn là câu ở dưới: luôn tự hỏi có suy ra được khoá không. Nếu có thì dùng cách một vì nó nhanh hơn nhiều.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lấy một ví dụ cụ thể cho cách một.
Tình huống: người dùng đã đăng nhập, hệ thống cần lấy hồ sơ của họ ra. Vì đã biết id, nhóm em chỉ cần ghép chuỗi "user::" với id đó là ra khoá hoàn chỉnh. Sau đó gọi lệnh get là lấy được toàn bộ document — chính là hồ sơ mà em đã trình bày ở slide trước.
Em xin so sánh với SQL để thấy khác biệt. BÊN SQL, DÙ MÌNH BIẾT CHÍNH XÁC ID, CƠ SỞ DỮ LIỆU VẪN PHẢI TRA INDEX ĐỂ BIẾT DÒNG ĐÓ NẰM Ở ĐÂU RỒI MỚI ĐỌC. BÊN COUCHBASE, KHOÁ CHÍNH LÀ ĐỊA CHỈ, NÊN LẤY THẲNG LUÔN, KHÔNG PHẢI TÌM.
Giống như bên SQL phải tra mục lục thư viện để biết sách ở kệ nào rồi mới đi lấy, còn bên Couchbase mình đã biết sẵn "kệ B ngăn 3" nên đi thẳng tới.
Bảng ở dưới là toàn bộ bốn lệnh cần dùng với cách này — rất ít so với SQL. Em xin lưu ý hai lệnh dễ nhầm: "insert" chỉ thêm mới, nếu khoá đã tồn tại thì nó BÁO LỖI — và chính đặc điểm đó tạo ra ràng buộc chống trùng mà em nói ở phần chức năng theo dõi. Còn "upsert" thì có ghi đè, không bao giờ báo lỗi trùng.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câu N1QL thật trong đồ án. Câu này đọc là: lấy tên và thành phố của mười người dùng ở Việt Nam có nhiều người theo dõi nhất.
Xin thầy nhìn: vẫn là SELECT, FROM, WHERE, ORDER BY, LIMIT — GIỐNG HỆT SQL.
Điểm mới duy nhất là dòng profile.location.country. Vì dữ liệu lồng nhau nên phải đi vào từng tầng bằng dấu chấm — "profile" là khối ngoài, "location" là khối trong nó, "country" là trường cụ thể. Giống như đường dẫn thư mục.
Trong SQL mình không cần cái này, vì mỗi cột chỉ là một giá trị đơn, không lồng nhau được.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chức năng phức tạp nhất của ứng dụng — bảng tin cá nhân hoá. Nhưng chia làm hai bước thì rất đơn giản.
BƯỚC MỘT: tìm xem tôi đang theo dõi những ai, được một danh sách ví dụ gồm Mai, Nam, Hùng.
BƯỚC HAI: lấy bài viết của Mai, Nam, Hùng, sắp xếp theo thời gian mới nhất, lấy hai mươi bài.
Trong câu lệnh, phần trong ngoặc sau chữ IN chính là bước một được viết lồng vào — đó là TRUY VẤN CON, khái niệm mình đã học trong SQL.
[Nếu thầy hỏi "nếu một người theo dõi 5000 người thì sao?":] Câu truy vấn sẽ chậm dần vì danh sách trong ngoặc rất dài. Các hệ thống lớn giải quyết bằng cách khác — mỗi khi có người đăng bài, họ đẩy sẵn bài đó vào bảng tin của từng người theo dõi, nên khi đọc chỉ cần lấy một lần. Với quy mô đồ án thì cách hiện tại là hợp lý.</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demo nhóm em sẽ đi từ giao diện xuống tới dữ liệu thật bên dưới.
BƯỚC BA LÀ BƯỚC EM MUỐN THẦY CHÚ Ý NHẤT: em sẽ bấm nút Theo dõi trên web, rồi chuyển sang Couchbase Console để thầy thấy document mang khoá "connection" vừa được tạo ra. Nó nối trực tiếp phần lý thuyết ở slide mẹo đặt khoá với thực tế.
[Lưu ý riêng cho người thuyết trình: mở sẵn cả web, Console và Query Workbench trong ba tab trước khi lên trình bày. Và có sẵn thư mục ảnh chụp màn hình dự phòng.]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kết quả, nhóm em đã xây dựng hoàn chỉnh ứng dụng trên Couchbase, thiết kế mô hình document cho năm loại thực thể, và áp dụng thiết kế khoá để tối ưu chức năng theo dõi.
Nhóm em cũng tự xác định được ba hạn chế.
THỨ NHẤT, chức năng tìm kiếm hiện dùng LIKE nên phải quét toàn bộ dữ liệu — cách đúng là dùng dịch vụ Full-Text Search của Couchbase, vừa nhanh hơn vừa xử lý được lỗi chính tả.
THỨ HAI, thao tác theo dõi gồm ba lệnh ghi rời: tạo quan hệ và tăng bộ đếm ở hai bên. Nếu lỗi giữa chừng thì số liệu sai — cần dùng transaction để đảm bảo hoặc làm hết, hoặc không làm gì.
THỨ BA, hiện đồ án chạy trên một máy, chưa có bản sao dự phòng, nên máy hỏng là mất dữ liệu.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nhóm em đến đây là hết. Em xin cảm ơn thầy và các bạn đã lắng nghe, và xin mời thầy đặt câu hỏi ạ.
[Slide sau là slide dự phòng — chỉ mở khi thầy hỏi tới.]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dự phòng — không trình bày, chỉ mở ra khi thầy hỏi đúng câu nào đó. Nếu không ai hỏi thì bỏ qua hoàn toàn.]
CÂU QUAN TRỌNG NHẤT CẦN THUỘC LÀ CÂU VỀ INDEX, vì đó là nội dung trọng tâm của môn học mà nhóm em không đưa vào phần trình bày chính. Trả lời ngắn gọn: có dùng, 23 index, cho các trường hay tìm kiếm như email và authorId.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8/27/2026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8680" y="1874520"/>
            <a:ext cx="10454335" cy="274320"/>
          </a:xfrm>
          <a:prstGeom prst="rect">
            <a:avLst/>
          </a:prstGeom>
          <a:noFill/>
          <a:ln/>
        </p:spPr>
        <p:txBody>
          <a:bodyPr wrap="square" rtlCol="0" anchor="ctr"/>
          <a:lstStyle/>
          <a:p>
            <a:pPr marL="0" indent="0">
              <a:buNone/>
            </a:pPr>
            <a:r>
              <a:rPr lang="en-US" sz="1100" b="1" kern="0" spc="220" dirty="0">
                <a:solidFill>
                  <a:srgbClr val="6E7C75"/>
                </a:solidFill>
                <a:latin typeface="+mn-lt" pitchFamily="34" charset="0"/>
                <a:ea typeface="+mn-lt" pitchFamily="34" charset="-122"/>
                <a:cs typeface="+mn-lt" pitchFamily="34" charset="-120"/>
              </a:rPr>
              <a:t>ĐỒ ÁN MÔN CƠ SỞ DỮ LIỆU</a:t>
            </a:r>
            <a:endParaRPr lang="en-US" sz="1100" dirty="0"/>
          </a:p>
        </p:txBody>
      </p:sp>
      <p:sp>
        <p:nvSpPr>
          <p:cNvPr id="3" name="Text 1"/>
          <p:cNvSpPr/>
          <p:nvPr/>
        </p:nvSpPr>
        <p:spPr>
          <a:xfrm>
            <a:off x="822960" y="2240280"/>
            <a:ext cx="10454335" cy="1737360"/>
          </a:xfrm>
          <a:prstGeom prst="rect">
            <a:avLst/>
          </a:prstGeom>
          <a:noFill/>
          <a:ln/>
        </p:spPr>
        <p:txBody>
          <a:bodyPr wrap="square" rtlCol="0" anchor="t">
            <a:normAutofit/>
          </a:bodyPr>
          <a:lstStyle/>
          <a:p>
            <a:pPr marL="0" indent="0">
              <a:lnSpc>
                <a:spcPct val="100000"/>
              </a:lnSpc>
              <a:buNone/>
            </a:pPr>
            <a:r>
              <a:rPr lang="en-US" sz="5400" b="1" dirty="0">
                <a:solidFill>
                  <a:srgbClr val="000000"/>
                </a:solidFill>
                <a:latin typeface="+mj-lt" pitchFamily="34" charset="0"/>
                <a:ea typeface="+mj-lt" pitchFamily="34" charset="-122"/>
                <a:cs typeface="+mj-lt" pitchFamily="34" charset="-120"/>
              </a:rPr>
              <a:t>Travel Network</a:t>
            </a:r>
            <a:endParaRPr lang="en-US" sz="5400" dirty="0"/>
          </a:p>
        </p:txBody>
      </p:sp>
      <p:sp>
        <p:nvSpPr>
          <p:cNvPr id="4" name="Shape 2"/>
          <p:cNvSpPr/>
          <p:nvPr/>
        </p:nvSpPr>
        <p:spPr>
          <a:xfrm>
            <a:off x="868680" y="4133088"/>
            <a:ext cx="1051560" cy="20117"/>
          </a:xfrm>
          <a:prstGeom prst="rect">
            <a:avLst/>
          </a:prstGeom>
          <a:solidFill>
            <a:srgbClr val="000000"/>
          </a:solidFill>
          <a:ln/>
        </p:spPr>
        <p:txBody>
          <a:bodyPr/>
          <a:lstStyle/>
          <a:p>
            <a:endParaRPr lang="en-US"/>
          </a:p>
        </p:txBody>
      </p:sp>
      <p:sp>
        <p:nvSpPr>
          <p:cNvPr id="5" name="Text 3"/>
          <p:cNvSpPr/>
          <p:nvPr/>
        </p:nvSpPr>
        <p:spPr>
          <a:xfrm>
            <a:off x="868680" y="4407408"/>
            <a:ext cx="9539935" cy="1371600"/>
          </a:xfrm>
          <a:prstGeom prst="rect">
            <a:avLst/>
          </a:prstGeom>
          <a:noFill/>
          <a:ln/>
        </p:spPr>
        <p:txBody>
          <a:bodyPr wrap="square" rtlCol="0" anchor="t"/>
          <a:lstStyle/>
          <a:p>
            <a:pPr marL="0" indent="0">
              <a:lnSpc>
                <a:spcPct val="145000"/>
              </a:lnSpc>
              <a:buNone/>
            </a:pPr>
            <a:r>
              <a:rPr lang="en-US" sz="1300" dirty="0">
                <a:solidFill>
                  <a:srgbClr val="2C3932"/>
                </a:solidFill>
                <a:latin typeface="+mn-lt" pitchFamily="34" charset="0"/>
                <a:ea typeface="+mn-lt" pitchFamily="34" charset="-122"/>
                <a:cs typeface="+mn-lt" pitchFamily="34" charset="-120"/>
              </a:rPr>
              <a:t>Mạng xã hội cho du khách</a:t>
            </a:r>
            <a:endParaRPr lang="en-US" sz="1300" dirty="0"/>
          </a:p>
          <a:p>
            <a:pPr marL="0" indent="0">
              <a:lnSpc>
                <a:spcPct val="145000"/>
              </a:lnSpc>
              <a:buNone/>
            </a:pPr>
            <a:r>
              <a:rPr lang="en-US" sz="1300" dirty="0">
                <a:solidFill>
                  <a:srgbClr val="2C3932"/>
                </a:solidFill>
                <a:latin typeface="+mn-lt" pitchFamily="34" charset="0"/>
                <a:ea typeface="+mn-lt" pitchFamily="34" charset="-122"/>
                <a:cs typeface="+mn-lt" pitchFamily="34" charset="-120"/>
              </a:rPr>
              <a:t>Cơ sở dữ liệu sử dụng: Couchbase</a:t>
            </a:r>
            <a:endParaRPr lang="en-US" sz="1300" dirty="0"/>
          </a:p>
          <a:p>
            <a:pPr marL="0" indent="0">
              <a:lnSpc>
                <a:spcPct val="145000"/>
              </a:lnSpc>
              <a:buNone/>
            </a:pPr>
            <a:r>
              <a:rPr lang="en-US" sz="1300" dirty="0">
                <a:solidFill>
                  <a:srgbClr val="2C3932"/>
                </a:solidFill>
                <a:latin typeface="+mn-lt" pitchFamily="34" charset="0"/>
                <a:ea typeface="+mn-lt" pitchFamily="34" charset="-122"/>
                <a:cs typeface="+mn-lt" pitchFamily="34" charset="-120"/>
              </a:rPr>
              <a:t>Nhóm thực hiện:  …………</a:t>
            </a:r>
            <a:endParaRPr lang="en-US" sz="1300" dirty="0"/>
          </a:p>
          <a:p>
            <a:pPr marL="0" indent="0">
              <a:lnSpc>
                <a:spcPct val="145000"/>
              </a:lnSpc>
              <a:buNone/>
            </a:pPr>
            <a:r>
              <a:rPr lang="en-US" sz="1300" dirty="0">
                <a:solidFill>
                  <a:srgbClr val="2C3932"/>
                </a:solidFill>
                <a:latin typeface="+mn-lt" pitchFamily="34" charset="0"/>
                <a:ea typeface="+mn-lt" pitchFamily="34" charset="-122"/>
                <a:cs typeface="+mn-lt" pitchFamily="34" charset="-120"/>
              </a:rPr>
              <a:t>Giảng viên hướng dẫn:  …………</a:t>
            </a:r>
            <a:endParaRPr lang="en-US" sz="1300" dirty="0"/>
          </a:p>
        </p:txBody>
      </p:sp>
      <p:sp>
        <p:nvSpPr>
          <p:cNvPr id="6" name="Shape 4"/>
          <p:cNvSpPr/>
          <p:nvPr/>
        </p:nvSpPr>
        <p:spPr>
          <a:xfrm>
            <a:off x="10442448" y="1938528"/>
            <a:ext cx="274320" cy="274320"/>
          </a:xfrm>
          <a:prstGeom prst="ellipse">
            <a:avLst/>
          </a:prstGeom>
          <a:solidFill>
            <a:srgbClr val="C9E2D6"/>
          </a:solidFill>
          <a:ln/>
        </p:spPr>
        <p:txBody>
          <a:bodyPr/>
          <a:lstStyle/>
          <a:p>
            <a:endParaRPr lang="en-US"/>
          </a:p>
        </p:txBody>
      </p:sp>
      <p:sp>
        <p:nvSpPr>
          <p:cNvPr id="7" name="Shape 5"/>
          <p:cNvSpPr/>
          <p:nvPr/>
        </p:nvSpPr>
        <p:spPr>
          <a:xfrm>
            <a:off x="10826496" y="1938528"/>
            <a:ext cx="274320" cy="274320"/>
          </a:xfrm>
          <a:prstGeom prst="ellipse">
            <a:avLst/>
          </a:prstGeom>
          <a:solidFill>
            <a:srgbClr val="F0D2BF"/>
          </a:solidFill>
          <a:ln/>
        </p:spPr>
        <p:txBody>
          <a:bodyPr/>
          <a:lstStyle/>
          <a:p>
            <a:endParaRPr lang="en-US"/>
          </a:p>
        </p:txBody>
      </p:sp>
      <p:sp>
        <p:nvSpPr>
          <p:cNvPr id="8" name="Shape 6"/>
          <p:cNvSpPr/>
          <p:nvPr/>
        </p:nvSpPr>
        <p:spPr>
          <a:xfrm>
            <a:off x="11210544" y="1938528"/>
            <a:ext cx="274320" cy="274320"/>
          </a:xfrm>
          <a:prstGeom prst="ellipse">
            <a:avLst/>
          </a:prstGeom>
          <a:solidFill>
            <a:srgbClr val="DBE7F5"/>
          </a:solidFill>
          <a:ln/>
        </p:spPr>
        <p:txBody>
          <a:bodyPr/>
          <a:lstStyle/>
          <a:p>
            <a:endParaRPr lang="en-US"/>
          </a:p>
        </p:txBody>
      </p:sp>
      <p:sp>
        <p:nvSpPr>
          <p:cNvPr id="9" name="Shape 7"/>
          <p:cNvSpPr/>
          <p:nvPr/>
        </p:nvSpPr>
        <p:spPr>
          <a:xfrm>
            <a:off x="868680" y="5961888"/>
            <a:ext cx="10454335" cy="7315"/>
          </a:xfrm>
          <a:prstGeom prst="rect">
            <a:avLst/>
          </a:prstGeom>
          <a:solidFill>
            <a:srgbClr val="C9CFCB"/>
          </a:solidFill>
          <a:ln/>
        </p:spPr>
        <p:txBody>
          <a:bodyPr/>
          <a:lstStyle/>
          <a:p>
            <a:endParaRPr lang="en-US"/>
          </a:p>
        </p:txBody>
      </p:sp>
      <p:sp>
        <p:nvSpPr>
          <p:cNvPr id="10" name="Text 8"/>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Mở đầu</a:t>
            </a:r>
            <a:endParaRPr lang="en-US" sz="900" dirty="0"/>
          </a:p>
        </p:txBody>
      </p:sp>
      <p:sp>
        <p:nvSpPr>
          <p:cNvPr id="11" name="Text 9"/>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 / 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NỘI DUNG TRÌNH BÀY</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Bài trình bày gồm 6 phần</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6" name="Shape 4"/>
          <p:cNvSpPr/>
          <p:nvPr/>
        </p:nvSpPr>
        <p:spPr>
          <a:xfrm>
            <a:off x="868680" y="1975104"/>
            <a:ext cx="3375050" cy="68580"/>
          </a:xfrm>
          <a:prstGeom prst="roundRect">
            <a:avLst>
              <a:gd name="adj" fmla="val 40000"/>
            </a:avLst>
          </a:prstGeom>
          <a:solidFill>
            <a:srgbClr val="C9E2D6"/>
          </a:solidFill>
          <a:ln w="3175">
            <a:solidFill>
              <a:srgbClr val="C9E2D6"/>
            </a:solidFill>
            <a:prstDash val="solid"/>
          </a:ln>
        </p:spPr>
        <p:txBody>
          <a:bodyPr/>
          <a:lstStyle/>
          <a:p>
            <a:endParaRPr lang="en-US"/>
          </a:p>
        </p:txBody>
      </p:sp>
      <p:sp>
        <p:nvSpPr>
          <p:cNvPr id="7" name="Text 5"/>
          <p:cNvSpPr/>
          <p:nvPr/>
        </p:nvSpPr>
        <p:spPr>
          <a:xfrm>
            <a:off x="1069848" y="2130552"/>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1</a:t>
            </a:r>
            <a:endParaRPr lang="en-US" sz="950" dirty="0"/>
          </a:p>
        </p:txBody>
      </p:sp>
      <p:sp>
        <p:nvSpPr>
          <p:cNvPr id="8" name="Text 6"/>
          <p:cNvSpPr/>
          <p:nvPr/>
        </p:nvSpPr>
        <p:spPr>
          <a:xfrm>
            <a:off x="1069848" y="2340864"/>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Đề tài làm gì</a:t>
            </a:r>
            <a:endParaRPr lang="en-US" sz="1500" dirty="0"/>
          </a:p>
        </p:txBody>
      </p:sp>
      <p:sp>
        <p:nvSpPr>
          <p:cNvPr id="9" name="Text 7"/>
          <p:cNvSpPr/>
          <p:nvPr/>
        </p:nvSpPr>
        <p:spPr>
          <a:xfrm>
            <a:off x="1069848" y="2706624"/>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Chức năng của ứng dụng và dữ liệu cần lưu.</a:t>
            </a:r>
            <a:endParaRPr lang="en-US" sz="1200" dirty="0"/>
          </a:p>
        </p:txBody>
      </p:sp>
      <p:sp>
        <p:nvSpPr>
          <p:cNvPr id="10" name="Shape 8"/>
          <p:cNvSpPr/>
          <p:nvPr/>
        </p:nvSpPr>
        <p:spPr>
          <a:xfrm>
            <a:off x="4408322" y="1975104"/>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11" name="Shape 9"/>
          <p:cNvSpPr/>
          <p:nvPr/>
        </p:nvSpPr>
        <p:spPr>
          <a:xfrm>
            <a:off x="4408322" y="1975104"/>
            <a:ext cx="3375050" cy="68580"/>
          </a:xfrm>
          <a:prstGeom prst="roundRect">
            <a:avLst>
              <a:gd name="adj" fmla="val 40000"/>
            </a:avLst>
          </a:prstGeom>
          <a:solidFill>
            <a:srgbClr val="DBE7F5"/>
          </a:solidFill>
          <a:ln w="3175">
            <a:solidFill>
              <a:srgbClr val="DBE7F5"/>
            </a:solidFill>
            <a:prstDash val="solid"/>
          </a:ln>
        </p:spPr>
        <p:txBody>
          <a:bodyPr/>
          <a:lstStyle/>
          <a:p>
            <a:endParaRPr lang="en-US"/>
          </a:p>
        </p:txBody>
      </p:sp>
      <p:sp>
        <p:nvSpPr>
          <p:cNvPr id="12" name="Text 10"/>
          <p:cNvSpPr/>
          <p:nvPr/>
        </p:nvSpPr>
        <p:spPr>
          <a:xfrm>
            <a:off x="4609490" y="2130552"/>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2</a:t>
            </a:r>
            <a:endParaRPr lang="en-US" sz="950" dirty="0"/>
          </a:p>
        </p:txBody>
      </p:sp>
      <p:sp>
        <p:nvSpPr>
          <p:cNvPr id="13" name="Text 11"/>
          <p:cNvSpPr/>
          <p:nvPr/>
        </p:nvSpPr>
        <p:spPr>
          <a:xfrm>
            <a:off x="4609490" y="2340864"/>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Vấn đề với CSDL quan hệ</a:t>
            </a:r>
            <a:endParaRPr lang="en-US" sz="1500" dirty="0"/>
          </a:p>
        </p:txBody>
      </p:sp>
      <p:sp>
        <p:nvSpPr>
          <p:cNvPr id="14" name="Text 12"/>
          <p:cNvSpPr/>
          <p:nvPr/>
        </p:nvSpPr>
        <p:spPr>
          <a:xfrm>
            <a:off x="4609490" y="2706624"/>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Vì sao mô hình bảng không phù hợp với bài toán này.</a:t>
            </a:r>
            <a:endParaRPr lang="en-US" sz="1200" dirty="0"/>
          </a:p>
        </p:txBody>
      </p:sp>
      <p:sp>
        <p:nvSpPr>
          <p:cNvPr id="15" name="Shape 13"/>
          <p:cNvSpPr/>
          <p:nvPr/>
        </p:nvSpPr>
        <p:spPr>
          <a:xfrm>
            <a:off x="7947965" y="1975104"/>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16" name="Shape 14"/>
          <p:cNvSpPr/>
          <p:nvPr/>
        </p:nvSpPr>
        <p:spPr>
          <a:xfrm>
            <a:off x="7947965" y="1975104"/>
            <a:ext cx="3375050" cy="68580"/>
          </a:xfrm>
          <a:prstGeom prst="roundRect">
            <a:avLst>
              <a:gd name="adj" fmla="val 40000"/>
            </a:avLst>
          </a:prstGeom>
          <a:solidFill>
            <a:srgbClr val="F0D2BF"/>
          </a:solidFill>
          <a:ln w="3175">
            <a:solidFill>
              <a:srgbClr val="F0D2BF"/>
            </a:solidFill>
            <a:prstDash val="solid"/>
          </a:ln>
        </p:spPr>
        <p:txBody>
          <a:bodyPr/>
          <a:lstStyle/>
          <a:p>
            <a:endParaRPr lang="en-US"/>
          </a:p>
        </p:txBody>
      </p:sp>
      <p:sp>
        <p:nvSpPr>
          <p:cNvPr id="17" name="Text 15"/>
          <p:cNvSpPr/>
          <p:nvPr/>
        </p:nvSpPr>
        <p:spPr>
          <a:xfrm>
            <a:off x="8149133" y="2130552"/>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3</a:t>
            </a:r>
            <a:endParaRPr lang="en-US" sz="950" dirty="0"/>
          </a:p>
        </p:txBody>
      </p:sp>
      <p:sp>
        <p:nvSpPr>
          <p:cNvPr id="18" name="Text 16"/>
          <p:cNvSpPr/>
          <p:nvPr/>
        </p:nvSpPr>
        <p:spPr>
          <a:xfrm>
            <a:off x="8149133" y="2340864"/>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Couchbase là gì</a:t>
            </a:r>
            <a:endParaRPr lang="en-US" sz="1500" dirty="0"/>
          </a:p>
        </p:txBody>
      </p:sp>
      <p:sp>
        <p:nvSpPr>
          <p:cNvPr id="19" name="Text 17"/>
          <p:cNvSpPr/>
          <p:nvPr/>
        </p:nvSpPr>
        <p:spPr>
          <a:xfrm>
            <a:off x="8149133" y="2706624"/>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Giới thiệu, lý do lựa chọn, đối chiếu thuật ngữ với SQL.</a:t>
            </a:r>
            <a:endParaRPr lang="en-US" sz="1200" dirty="0"/>
          </a:p>
        </p:txBody>
      </p:sp>
      <p:sp>
        <p:nvSpPr>
          <p:cNvPr id="20" name="Shape 18"/>
          <p:cNvSpPr/>
          <p:nvPr/>
        </p:nvSpPr>
        <p:spPr>
          <a:xfrm>
            <a:off x="868680" y="3888486"/>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21" name="Shape 19"/>
          <p:cNvSpPr/>
          <p:nvPr/>
        </p:nvSpPr>
        <p:spPr>
          <a:xfrm>
            <a:off x="868680" y="3888486"/>
            <a:ext cx="3375050" cy="68580"/>
          </a:xfrm>
          <a:prstGeom prst="roundRect">
            <a:avLst>
              <a:gd name="adj" fmla="val 40000"/>
            </a:avLst>
          </a:prstGeom>
          <a:solidFill>
            <a:srgbClr val="F0D4DB"/>
          </a:solidFill>
          <a:ln w="3175">
            <a:solidFill>
              <a:srgbClr val="F0D4DB"/>
            </a:solidFill>
            <a:prstDash val="solid"/>
          </a:ln>
        </p:spPr>
        <p:txBody>
          <a:bodyPr/>
          <a:lstStyle/>
          <a:p>
            <a:endParaRPr lang="en-US"/>
          </a:p>
        </p:txBody>
      </p:sp>
      <p:sp>
        <p:nvSpPr>
          <p:cNvPr id="22" name="Text 20"/>
          <p:cNvSpPr/>
          <p:nvPr/>
        </p:nvSpPr>
        <p:spPr>
          <a:xfrm>
            <a:off x="1069848" y="4043934"/>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4</a:t>
            </a:r>
            <a:endParaRPr lang="en-US" sz="950" dirty="0"/>
          </a:p>
        </p:txBody>
      </p:sp>
      <p:sp>
        <p:nvSpPr>
          <p:cNvPr id="23" name="Text 21"/>
          <p:cNvSpPr/>
          <p:nvPr/>
        </p:nvSpPr>
        <p:spPr>
          <a:xfrm>
            <a:off x="1069848" y="4254246"/>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Mô hình dữ liệu</a:t>
            </a:r>
            <a:endParaRPr lang="en-US" sz="1500" dirty="0"/>
          </a:p>
        </p:txBody>
      </p:sp>
      <p:sp>
        <p:nvSpPr>
          <p:cNvPr id="24" name="Text 22"/>
          <p:cNvSpPr/>
          <p:nvPr/>
        </p:nvSpPr>
        <p:spPr>
          <a:xfrm>
            <a:off x="1069848" y="4620006"/>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Cách nhóm em tổ chức dữ liệu và đặt khoá.</a:t>
            </a:r>
            <a:endParaRPr lang="en-US" sz="1200" dirty="0"/>
          </a:p>
        </p:txBody>
      </p:sp>
      <p:sp>
        <p:nvSpPr>
          <p:cNvPr id="25" name="Shape 23"/>
          <p:cNvSpPr/>
          <p:nvPr/>
        </p:nvSpPr>
        <p:spPr>
          <a:xfrm>
            <a:off x="4408322" y="3888486"/>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26" name="Shape 24"/>
          <p:cNvSpPr/>
          <p:nvPr/>
        </p:nvSpPr>
        <p:spPr>
          <a:xfrm>
            <a:off x="4408322" y="3888486"/>
            <a:ext cx="3375050" cy="68580"/>
          </a:xfrm>
          <a:prstGeom prst="roundRect">
            <a:avLst>
              <a:gd name="adj" fmla="val 40000"/>
            </a:avLst>
          </a:prstGeom>
          <a:solidFill>
            <a:srgbClr val="F3E49A"/>
          </a:solidFill>
          <a:ln w="3175">
            <a:solidFill>
              <a:srgbClr val="F3E49A"/>
            </a:solidFill>
            <a:prstDash val="solid"/>
          </a:ln>
        </p:spPr>
        <p:txBody>
          <a:bodyPr/>
          <a:lstStyle/>
          <a:p>
            <a:endParaRPr lang="en-US"/>
          </a:p>
        </p:txBody>
      </p:sp>
      <p:sp>
        <p:nvSpPr>
          <p:cNvPr id="27" name="Text 25"/>
          <p:cNvSpPr/>
          <p:nvPr/>
        </p:nvSpPr>
        <p:spPr>
          <a:xfrm>
            <a:off x="4609490" y="4043934"/>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5</a:t>
            </a:r>
            <a:endParaRPr lang="en-US" sz="950" dirty="0"/>
          </a:p>
        </p:txBody>
      </p:sp>
      <p:sp>
        <p:nvSpPr>
          <p:cNvPr id="28" name="Text 26"/>
          <p:cNvSpPr/>
          <p:nvPr/>
        </p:nvSpPr>
        <p:spPr>
          <a:xfrm>
            <a:off x="4609490" y="4254246"/>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Cách truy vấn</a:t>
            </a:r>
            <a:endParaRPr lang="en-US" sz="1500" dirty="0"/>
          </a:p>
        </p:txBody>
      </p:sp>
      <p:sp>
        <p:nvSpPr>
          <p:cNvPr id="29" name="Text 27"/>
          <p:cNvSpPr/>
          <p:nvPr/>
        </p:nvSpPr>
        <p:spPr>
          <a:xfrm>
            <a:off x="4609490" y="4620006"/>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Hai cách lấy dữ liệu, kèm ví dụ cụ thể.</a:t>
            </a:r>
            <a:endParaRPr lang="en-US" sz="1200" dirty="0"/>
          </a:p>
        </p:txBody>
      </p:sp>
      <p:sp>
        <p:nvSpPr>
          <p:cNvPr id="30" name="Shape 28"/>
          <p:cNvSpPr/>
          <p:nvPr/>
        </p:nvSpPr>
        <p:spPr>
          <a:xfrm>
            <a:off x="7947965" y="3888486"/>
            <a:ext cx="3375050" cy="1748790"/>
          </a:xfrm>
          <a:prstGeom prst="roundRect">
            <a:avLst>
              <a:gd name="adj" fmla="val 2614"/>
            </a:avLst>
          </a:prstGeom>
          <a:solidFill>
            <a:srgbClr val="FFFFFF"/>
          </a:solidFill>
          <a:ln w="9525">
            <a:solidFill>
              <a:srgbClr val="C9CFCB"/>
            </a:solidFill>
            <a:prstDash val="solid"/>
          </a:ln>
        </p:spPr>
        <p:txBody>
          <a:bodyPr/>
          <a:lstStyle/>
          <a:p>
            <a:endParaRPr lang="en-US"/>
          </a:p>
        </p:txBody>
      </p:sp>
      <p:sp>
        <p:nvSpPr>
          <p:cNvPr id="31" name="Shape 29"/>
          <p:cNvSpPr/>
          <p:nvPr/>
        </p:nvSpPr>
        <p:spPr>
          <a:xfrm>
            <a:off x="7947965" y="3888486"/>
            <a:ext cx="3375050" cy="68580"/>
          </a:xfrm>
          <a:prstGeom prst="roundRect">
            <a:avLst>
              <a:gd name="adj" fmla="val 40000"/>
            </a:avLst>
          </a:prstGeom>
          <a:solidFill>
            <a:srgbClr val="BABAD6"/>
          </a:solidFill>
          <a:ln w="3175">
            <a:solidFill>
              <a:srgbClr val="BABAD6"/>
            </a:solidFill>
            <a:prstDash val="solid"/>
          </a:ln>
        </p:spPr>
        <p:txBody>
          <a:bodyPr/>
          <a:lstStyle/>
          <a:p>
            <a:endParaRPr lang="en-US"/>
          </a:p>
        </p:txBody>
      </p:sp>
      <p:sp>
        <p:nvSpPr>
          <p:cNvPr id="32" name="Text 30"/>
          <p:cNvSpPr/>
          <p:nvPr/>
        </p:nvSpPr>
        <p:spPr>
          <a:xfrm>
            <a:off x="8149133" y="4043934"/>
            <a:ext cx="2972714"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PHẦN 6</a:t>
            </a:r>
            <a:endParaRPr lang="en-US" sz="950" dirty="0"/>
          </a:p>
        </p:txBody>
      </p:sp>
      <p:sp>
        <p:nvSpPr>
          <p:cNvPr id="33" name="Text 31"/>
          <p:cNvSpPr/>
          <p:nvPr/>
        </p:nvSpPr>
        <p:spPr>
          <a:xfrm>
            <a:off x="8149133" y="4254246"/>
            <a:ext cx="2972714" cy="365760"/>
          </a:xfrm>
          <a:prstGeom prst="rect">
            <a:avLst/>
          </a:prstGeom>
          <a:noFill/>
          <a:ln/>
        </p:spPr>
        <p:txBody>
          <a:bodyPr wrap="square" rtlCol="0" anchor="t">
            <a:normAutofit/>
          </a:bodyPr>
          <a:lstStyle/>
          <a:p>
            <a:pPr marL="0" indent="0">
              <a:buNone/>
            </a:pPr>
            <a:r>
              <a:rPr lang="en-US" sz="1500" b="1" dirty="0">
                <a:solidFill>
                  <a:srgbClr val="000000"/>
                </a:solidFill>
                <a:latin typeface="+mj-lt" pitchFamily="34" charset="0"/>
                <a:ea typeface="+mj-lt" pitchFamily="34" charset="-122"/>
                <a:cs typeface="+mj-lt" pitchFamily="34" charset="-120"/>
              </a:rPr>
              <a:t>Demo</a:t>
            </a:r>
            <a:endParaRPr lang="en-US" sz="1500" dirty="0"/>
          </a:p>
        </p:txBody>
      </p:sp>
      <p:sp>
        <p:nvSpPr>
          <p:cNvPr id="34" name="Text 32"/>
          <p:cNvSpPr/>
          <p:nvPr/>
        </p:nvSpPr>
        <p:spPr>
          <a:xfrm>
            <a:off x="8149133" y="4620006"/>
            <a:ext cx="2972714" cy="870966"/>
          </a:xfrm>
          <a:prstGeom prst="rect">
            <a:avLst/>
          </a:prstGeom>
          <a:noFill/>
          <a:ln/>
        </p:spPr>
        <p:txBody>
          <a:bodyPr wrap="square" rtlCol="0" anchor="t">
            <a:normAutofit/>
          </a:bodyPr>
          <a:lstStyle/>
          <a:p>
            <a:pPr marL="0" indent="0">
              <a:buNone/>
            </a:pPr>
            <a:r>
              <a:rPr lang="en-US" sz="1200" dirty="0">
                <a:solidFill>
                  <a:srgbClr val="2C3932"/>
                </a:solidFill>
                <a:latin typeface="+mn-lt" pitchFamily="34" charset="0"/>
                <a:ea typeface="+mn-lt" pitchFamily="34" charset="-122"/>
                <a:cs typeface="+mn-lt" pitchFamily="34" charset="-120"/>
              </a:rPr>
              <a:t>Chạy thử ứng dụng và xem dữ liệu thật.</a:t>
            </a:r>
            <a:endParaRPr lang="en-US" sz="1200" dirty="0"/>
          </a:p>
        </p:txBody>
      </p:sp>
      <p:sp>
        <p:nvSpPr>
          <p:cNvPr id="35" name="Shape 33"/>
          <p:cNvSpPr/>
          <p:nvPr/>
        </p:nvSpPr>
        <p:spPr>
          <a:xfrm>
            <a:off x="868680" y="5961888"/>
            <a:ext cx="10454335" cy="7315"/>
          </a:xfrm>
          <a:prstGeom prst="rect">
            <a:avLst/>
          </a:prstGeom>
          <a:solidFill>
            <a:srgbClr val="C9CFCB"/>
          </a:solidFill>
          <a:ln/>
        </p:spPr>
        <p:txBody>
          <a:bodyPr/>
          <a:lstStyle/>
          <a:p>
            <a:endParaRPr lang="en-US"/>
          </a:p>
        </p:txBody>
      </p:sp>
      <p:sp>
        <p:nvSpPr>
          <p:cNvPr id="36" name="Text 34"/>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Mở đầu</a:t>
            </a:r>
            <a:endParaRPr lang="en-US" sz="900" dirty="0"/>
          </a:p>
        </p:txBody>
      </p:sp>
      <p:sp>
        <p:nvSpPr>
          <p:cNvPr id="37" name="Text 35"/>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1 · ĐỀ TÀI   ·   CHỨC NĂNG</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Travel Network cho phép người dùng</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905256" y="2218792"/>
            <a:ext cx="82296" cy="82296"/>
          </a:xfrm>
          <a:prstGeom prst="ellipse">
            <a:avLst/>
          </a:prstGeom>
          <a:solidFill>
            <a:srgbClr val="000000"/>
          </a:solidFill>
          <a:ln/>
        </p:spPr>
        <p:txBody>
          <a:bodyPr/>
          <a:lstStyle/>
          <a:p>
            <a:endParaRPr lang="en-US"/>
          </a:p>
        </p:txBody>
      </p:sp>
      <p:sp>
        <p:nvSpPr>
          <p:cNvPr id="6" name="Text 4"/>
          <p:cNvSpPr/>
          <p:nvPr/>
        </p:nvSpPr>
        <p:spPr>
          <a:xfrm>
            <a:off x="1179576" y="1975104"/>
            <a:ext cx="10143439" cy="569671"/>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Tạo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hồ sơ cá nhân</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ảnh đại diện, giới thiệu, sở thích du lịch</a:t>
            </a:r>
            <a:endParaRPr lang="en-US" sz="1550" dirty="0">
              <a:latin typeface="Times New Roman" panose="02020603050405020304" pitchFamily="18" charset="0"/>
              <a:cs typeface="Times New Roman" panose="02020603050405020304" pitchFamily="18" charset="0"/>
            </a:endParaRPr>
          </a:p>
        </p:txBody>
      </p:sp>
      <p:sp>
        <p:nvSpPr>
          <p:cNvPr id="7" name="Shape 5"/>
          <p:cNvSpPr/>
          <p:nvPr/>
        </p:nvSpPr>
        <p:spPr>
          <a:xfrm>
            <a:off x="905256" y="2788463"/>
            <a:ext cx="82296" cy="82296"/>
          </a:xfrm>
          <a:prstGeom prst="ellipse">
            <a:avLst/>
          </a:prstGeom>
          <a:solidFill>
            <a:srgbClr val="000000"/>
          </a:solidFill>
          <a:ln/>
        </p:spPr>
        <p:txBody>
          <a:bodyPr/>
          <a:lstStyle/>
          <a:p>
            <a:endParaRPr lang="en-US"/>
          </a:p>
        </p:txBody>
      </p:sp>
      <p:sp>
        <p:nvSpPr>
          <p:cNvPr id="8" name="Text 6"/>
          <p:cNvSpPr/>
          <p:nvPr/>
        </p:nvSpPr>
        <p:spPr>
          <a:xfrm>
            <a:off x="1179576" y="2544775"/>
            <a:ext cx="10143439" cy="569671"/>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Đăng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bài viết</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kèm ảnh về chuyến đi</a:t>
            </a:r>
            <a:endParaRPr lang="en-US" sz="1550" dirty="0">
              <a:latin typeface="Times New Roman" panose="02020603050405020304" pitchFamily="18" charset="0"/>
              <a:cs typeface="Times New Roman" panose="02020603050405020304" pitchFamily="18" charset="0"/>
            </a:endParaRPr>
          </a:p>
        </p:txBody>
      </p:sp>
      <p:sp>
        <p:nvSpPr>
          <p:cNvPr id="9" name="Shape 7"/>
          <p:cNvSpPr/>
          <p:nvPr/>
        </p:nvSpPr>
        <p:spPr>
          <a:xfrm>
            <a:off x="905256" y="3358134"/>
            <a:ext cx="82296" cy="82296"/>
          </a:xfrm>
          <a:prstGeom prst="ellipse">
            <a:avLst/>
          </a:prstGeom>
          <a:solidFill>
            <a:srgbClr val="000000"/>
          </a:solidFill>
          <a:ln/>
        </p:spPr>
        <p:txBody>
          <a:bodyPr/>
          <a:lstStyle/>
          <a:p>
            <a:endParaRPr lang="en-US"/>
          </a:p>
        </p:txBody>
      </p:sp>
      <p:sp>
        <p:nvSpPr>
          <p:cNvPr id="10" name="Text 8"/>
          <p:cNvSpPr/>
          <p:nvPr/>
        </p:nvSpPr>
        <p:spPr>
          <a:xfrm>
            <a:off x="1179576" y="3114446"/>
            <a:ext cx="10143439" cy="569671"/>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Lập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kế hoạch chuyến đi</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lịch trình từng ngày, ngân sách</a:t>
            </a:r>
            <a:endParaRPr lang="en-US" sz="1550" dirty="0">
              <a:latin typeface="Times New Roman" panose="02020603050405020304" pitchFamily="18" charset="0"/>
              <a:cs typeface="Times New Roman" panose="02020603050405020304" pitchFamily="18" charset="0"/>
            </a:endParaRPr>
          </a:p>
        </p:txBody>
      </p:sp>
      <p:sp>
        <p:nvSpPr>
          <p:cNvPr id="11" name="Shape 9"/>
          <p:cNvSpPr/>
          <p:nvPr/>
        </p:nvSpPr>
        <p:spPr>
          <a:xfrm>
            <a:off x="905256" y="3927805"/>
            <a:ext cx="82296" cy="82296"/>
          </a:xfrm>
          <a:prstGeom prst="ellipse">
            <a:avLst/>
          </a:prstGeom>
          <a:solidFill>
            <a:srgbClr val="000000"/>
          </a:solidFill>
          <a:ln/>
        </p:spPr>
        <p:txBody>
          <a:bodyPr/>
          <a:lstStyle/>
          <a:p>
            <a:endParaRPr lang="en-US"/>
          </a:p>
        </p:txBody>
      </p:sp>
      <p:sp>
        <p:nvSpPr>
          <p:cNvPr id="12" name="Text 10"/>
          <p:cNvSpPr/>
          <p:nvPr/>
        </p:nvSpPr>
        <p:spPr>
          <a:xfrm>
            <a:off x="1179576" y="3684118"/>
            <a:ext cx="10143439" cy="569671"/>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Theo dõi</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người dùng khác</a:t>
            </a:r>
            <a:endParaRPr lang="en-US" sz="1550" dirty="0">
              <a:latin typeface="Times New Roman" panose="02020603050405020304" pitchFamily="18" charset="0"/>
              <a:cs typeface="Times New Roman" panose="02020603050405020304" pitchFamily="18" charset="0"/>
            </a:endParaRPr>
          </a:p>
        </p:txBody>
      </p:sp>
      <p:sp>
        <p:nvSpPr>
          <p:cNvPr id="13" name="Shape 11"/>
          <p:cNvSpPr/>
          <p:nvPr/>
        </p:nvSpPr>
        <p:spPr>
          <a:xfrm>
            <a:off x="905256" y="4497476"/>
            <a:ext cx="82296" cy="82296"/>
          </a:xfrm>
          <a:prstGeom prst="ellipse">
            <a:avLst/>
          </a:prstGeom>
          <a:solidFill>
            <a:srgbClr val="000000"/>
          </a:solidFill>
          <a:ln/>
        </p:spPr>
        <p:txBody>
          <a:bodyPr/>
          <a:lstStyle/>
          <a:p>
            <a:endParaRPr lang="en-US"/>
          </a:p>
        </p:txBody>
      </p:sp>
      <p:sp>
        <p:nvSpPr>
          <p:cNvPr id="14" name="Text 12"/>
          <p:cNvSpPr/>
          <p:nvPr/>
        </p:nvSpPr>
        <p:spPr>
          <a:xfrm>
            <a:off x="1179576" y="4253789"/>
            <a:ext cx="10143439" cy="569671"/>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Xem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bảng tin</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từ những người mình theo dõi</a:t>
            </a:r>
            <a:endParaRPr lang="en-US" sz="1550" dirty="0">
              <a:latin typeface="Times New Roman" panose="02020603050405020304" pitchFamily="18" charset="0"/>
              <a:cs typeface="Times New Roman" panose="02020603050405020304" pitchFamily="18" charset="0"/>
            </a:endParaRPr>
          </a:p>
        </p:txBody>
      </p:sp>
      <p:sp>
        <p:nvSpPr>
          <p:cNvPr id="15" name="Shape 13"/>
          <p:cNvSpPr/>
          <p:nvPr/>
        </p:nvSpPr>
        <p:spPr>
          <a:xfrm>
            <a:off x="905256" y="5067148"/>
            <a:ext cx="82296" cy="82296"/>
          </a:xfrm>
          <a:prstGeom prst="ellipse">
            <a:avLst/>
          </a:prstGeom>
          <a:solidFill>
            <a:srgbClr val="000000"/>
          </a:solidFill>
          <a:ln/>
        </p:spPr>
        <p:txBody>
          <a:bodyPr/>
          <a:lstStyle/>
          <a:p>
            <a:endParaRPr lang="en-US"/>
          </a:p>
        </p:txBody>
      </p:sp>
      <p:sp>
        <p:nvSpPr>
          <p:cNvPr id="16" name="Text 14"/>
          <p:cNvSpPr/>
          <p:nvPr/>
        </p:nvSpPr>
        <p:spPr>
          <a:xfrm>
            <a:off x="1179576" y="4823460"/>
            <a:ext cx="10143439" cy="569671"/>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Tìm kiếm</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điểm đến và người dùng</a:t>
            </a:r>
            <a:endParaRPr lang="en-US" sz="1550" dirty="0">
              <a:latin typeface="Times New Roman" panose="02020603050405020304" pitchFamily="18" charset="0"/>
              <a:cs typeface="Times New Roman" panose="02020603050405020304" pitchFamily="18" charset="0"/>
            </a:endParaRPr>
          </a:p>
        </p:txBody>
      </p:sp>
      <p:sp>
        <p:nvSpPr>
          <p:cNvPr id="17" name="Shape 15"/>
          <p:cNvSpPr/>
          <p:nvPr/>
        </p:nvSpPr>
        <p:spPr>
          <a:xfrm>
            <a:off x="868680" y="5961888"/>
            <a:ext cx="10454335" cy="7315"/>
          </a:xfrm>
          <a:prstGeom prst="rect">
            <a:avLst/>
          </a:prstGeom>
          <a:solidFill>
            <a:srgbClr val="C9CFCB"/>
          </a:solidFill>
          <a:ln/>
        </p:spPr>
        <p:txBody>
          <a:bodyPr/>
          <a:lstStyle/>
          <a:p>
            <a:endParaRPr lang="en-US"/>
          </a:p>
        </p:txBody>
      </p:sp>
      <p:sp>
        <p:nvSpPr>
          <p:cNvPr id="18" name="Text 1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1 · Đề tài</a:t>
            </a:r>
            <a:endParaRPr lang="en-US" sz="900" dirty="0"/>
          </a:p>
        </p:txBody>
      </p:sp>
      <p:sp>
        <p:nvSpPr>
          <p:cNvPr id="19" name="Text 1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1 · ĐỀ TÀI   ·   HÌNH DẠNG DỮ LIỆU</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Một chuyến đi gồm những gì?</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905256" y="2186239"/>
            <a:ext cx="82296" cy="82296"/>
          </a:xfrm>
          <a:prstGeom prst="ellipse">
            <a:avLst/>
          </a:prstGeom>
          <a:solidFill>
            <a:srgbClr val="000000"/>
          </a:solidFill>
          <a:ln/>
        </p:spPr>
        <p:txBody>
          <a:bodyPr/>
          <a:lstStyle/>
          <a:p>
            <a:endParaRPr lang="en-US"/>
          </a:p>
        </p:txBody>
      </p:sp>
      <p:sp>
        <p:nvSpPr>
          <p:cNvPr id="6" name="Text 4"/>
          <p:cNvSpPr/>
          <p:nvPr/>
        </p:nvSpPr>
        <p:spPr>
          <a:xfrm>
            <a:off x="1179576" y="1975104"/>
            <a:ext cx="10143439" cy="504566"/>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Tên chuyến đi, ngày bắt đầu, ngày kết thúc</a:t>
            </a:r>
            <a:endParaRPr lang="en-US" sz="1550" dirty="0">
              <a:latin typeface="Times New Roman" panose="02020603050405020304" pitchFamily="18" charset="0"/>
              <a:cs typeface="Times New Roman" panose="02020603050405020304" pitchFamily="18" charset="0"/>
            </a:endParaRPr>
          </a:p>
        </p:txBody>
      </p:sp>
      <p:sp>
        <p:nvSpPr>
          <p:cNvPr id="7" name="Shape 5"/>
          <p:cNvSpPr/>
          <p:nvPr/>
        </p:nvSpPr>
        <p:spPr>
          <a:xfrm>
            <a:off x="905256" y="2690805"/>
            <a:ext cx="82296" cy="82296"/>
          </a:xfrm>
          <a:prstGeom prst="ellipse">
            <a:avLst/>
          </a:prstGeom>
          <a:solidFill>
            <a:srgbClr val="000000"/>
          </a:solidFill>
          <a:ln/>
        </p:spPr>
        <p:txBody>
          <a:bodyPr/>
          <a:lstStyle/>
          <a:p>
            <a:endParaRPr lang="en-US"/>
          </a:p>
        </p:txBody>
      </p:sp>
      <p:sp>
        <p:nvSpPr>
          <p:cNvPr id="8" name="Text 6"/>
          <p:cNvSpPr/>
          <p:nvPr/>
        </p:nvSpPr>
        <p:spPr>
          <a:xfrm>
            <a:off x="1179576" y="2479670"/>
            <a:ext cx="10143439" cy="504566"/>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Danh sách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điểm đến</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nhiều điểm</a:t>
            </a:r>
            <a:endParaRPr lang="en-US" sz="1550" dirty="0">
              <a:latin typeface="Times New Roman" panose="02020603050405020304" pitchFamily="18" charset="0"/>
              <a:cs typeface="Times New Roman" panose="02020603050405020304" pitchFamily="18" charset="0"/>
            </a:endParaRPr>
          </a:p>
        </p:txBody>
      </p:sp>
      <p:sp>
        <p:nvSpPr>
          <p:cNvPr id="9" name="Shape 7"/>
          <p:cNvSpPr/>
          <p:nvPr/>
        </p:nvSpPr>
        <p:spPr>
          <a:xfrm>
            <a:off x="905256" y="3195371"/>
            <a:ext cx="82296" cy="82296"/>
          </a:xfrm>
          <a:prstGeom prst="ellipse">
            <a:avLst/>
          </a:prstGeom>
          <a:solidFill>
            <a:srgbClr val="000000"/>
          </a:solidFill>
          <a:ln/>
        </p:spPr>
        <p:txBody>
          <a:bodyPr/>
          <a:lstStyle/>
          <a:p>
            <a:endParaRPr lang="en-US"/>
          </a:p>
        </p:txBody>
      </p:sp>
      <p:sp>
        <p:nvSpPr>
          <p:cNvPr id="10" name="Text 8"/>
          <p:cNvSpPr/>
          <p:nvPr/>
        </p:nvSpPr>
        <p:spPr>
          <a:xfrm>
            <a:off x="1179576" y="2984236"/>
            <a:ext cx="10143439" cy="50456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Lịch trình từng ngày</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mỗi ngày lại có nhiều hoạt động</a:t>
            </a:r>
            <a:endParaRPr lang="en-US" sz="1550" dirty="0">
              <a:latin typeface="Times New Roman" panose="02020603050405020304" pitchFamily="18" charset="0"/>
              <a:cs typeface="Times New Roman" panose="02020603050405020304" pitchFamily="18" charset="0"/>
            </a:endParaRPr>
          </a:p>
        </p:txBody>
      </p:sp>
      <p:sp>
        <p:nvSpPr>
          <p:cNvPr id="11" name="Shape 9"/>
          <p:cNvSpPr/>
          <p:nvPr/>
        </p:nvSpPr>
        <p:spPr>
          <a:xfrm>
            <a:off x="905256" y="3699937"/>
            <a:ext cx="82296" cy="82296"/>
          </a:xfrm>
          <a:prstGeom prst="ellipse">
            <a:avLst/>
          </a:prstGeom>
          <a:solidFill>
            <a:srgbClr val="000000"/>
          </a:solidFill>
          <a:ln/>
        </p:spPr>
        <p:txBody>
          <a:bodyPr/>
          <a:lstStyle/>
          <a:p>
            <a:endParaRPr lang="en-US"/>
          </a:p>
        </p:txBody>
      </p:sp>
      <p:sp>
        <p:nvSpPr>
          <p:cNvPr id="12" name="Text 10"/>
          <p:cNvSpPr/>
          <p:nvPr/>
        </p:nvSpPr>
        <p:spPr>
          <a:xfrm>
            <a:off x="1179576" y="3488802"/>
            <a:ext cx="10143439" cy="50456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Ngân sách</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ăn ở, đi lại, ăn uống, vui chơi</a:t>
            </a:r>
            <a:endParaRPr lang="en-US" sz="1550" dirty="0">
              <a:latin typeface="Times New Roman" panose="02020603050405020304" pitchFamily="18" charset="0"/>
              <a:cs typeface="Times New Roman" panose="02020603050405020304" pitchFamily="18" charset="0"/>
            </a:endParaRPr>
          </a:p>
        </p:txBody>
      </p:sp>
      <p:sp>
        <p:nvSpPr>
          <p:cNvPr id="13" name="Shape 11"/>
          <p:cNvSpPr/>
          <p:nvPr/>
        </p:nvSpPr>
        <p:spPr>
          <a:xfrm>
            <a:off x="905256" y="4204503"/>
            <a:ext cx="82296" cy="82296"/>
          </a:xfrm>
          <a:prstGeom prst="ellipse">
            <a:avLst/>
          </a:prstGeom>
          <a:solidFill>
            <a:srgbClr val="000000"/>
          </a:solidFill>
          <a:ln/>
        </p:spPr>
        <p:txBody>
          <a:bodyPr/>
          <a:lstStyle/>
          <a:p>
            <a:endParaRPr lang="en-US"/>
          </a:p>
        </p:txBody>
      </p:sp>
      <p:sp>
        <p:nvSpPr>
          <p:cNvPr id="14" name="Text 12"/>
          <p:cNvSpPr/>
          <p:nvPr/>
        </p:nvSpPr>
        <p:spPr>
          <a:xfrm>
            <a:off x="1179576" y="3993368"/>
            <a:ext cx="10143439" cy="504566"/>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Danh sách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người đi cùng</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nhiều người</a:t>
            </a:r>
            <a:endParaRPr lang="en-US" sz="1550" dirty="0">
              <a:latin typeface="Times New Roman" panose="02020603050405020304" pitchFamily="18" charset="0"/>
              <a:cs typeface="Times New Roman" panose="02020603050405020304" pitchFamily="18" charset="0"/>
            </a:endParaRPr>
          </a:p>
        </p:txBody>
      </p:sp>
      <p:sp>
        <p:nvSpPr>
          <p:cNvPr id="15" name="Shape 13"/>
          <p:cNvSpPr/>
          <p:nvPr/>
        </p:nvSpPr>
        <p:spPr>
          <a:xfrm>
            <a:off x="868680" y="4660697"/>
            <a:ext cx="10454335" cy="773125"/>
          </a:xfrm>
          <a:prstGeom prst="roundRect">
            <a:avLst>
              <a:gd name="adj" fmla="val 7096"/>
            </a:avLst>
          </a:prstGeom>
          <a:solidFill>
            <a:srgbClr val="DBE7F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4"/>
          <p:cNvSpPr/>
          <p:nvPr/>
        </p:nvSpPr>
        <p:spPr>
          <a:xfrm>
            <a:off x="1143000" y="4706417"/>
            <a:ext cx="9905695" cy="681685"/>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Dữ liệu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lồng nhau nhiều tầng</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 danh sách nằm trong danh sách. Không vừa với một dòng trong bảng.</a:t>
            </a:r>
            <a:endParaRPr lang="en-US" sz="1450" dirty="0">
              <a:latin typeface="Times New Roman" panose="02020603050405020304" pitchFamily="18" charset="0"/>
              <a:cs typeface="Times New Roman" panose="02020603050405020304" pitchFamily="18" charset="0"/>
            </a:endParaRPr>
          </a:p>
        </p:txBody>
      </p:sp>
      <p:sp>
        <p:nvSpPr>
          <p:cNvPr id="17" name="Shape 15"/>
          <p:cNvSpPr/>
          <p:nvPr/>
        </p:nvSpPr>
        <p:spPr>
          <a:xfrm>
            <a:off x="868680" y="5961888"/>
            <a:ext cx="10454335" cy="7315"/>
          </a:xfrm>
          <a:prstGeom prst="rect">
            <a:avLst/>
          </a:prstGeom>
          <a:solidFill>
            <a:srgbClr val="C9CFCB"/>
          </a:solidFill>
          <a:ln/>
        </p:spPr>
        <p:txBody>
          <a:bodyPr/>
          <a:lstStyle/>
          <a:p>
            <a:endParaRPr lang="en-US"/>
          </a:p>
        </p:txBody>
      </p:sp>
      <p:sp>
        <p:nvSpPr>
          <p:cNvPr id="18" name="Text 1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1 · Đề tài</a:t>
            </a:r>
            <a:endParaRPr lang="en-US" sz="900" dirty="0"/>
          </a:p>
        </p:txBody>
      </p:sp>
      <p:sp>
        <p:nvSpPr>
          <p:cNvPr id="19" name="Text 1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2 · VẤN ĐỀ   ·   LƯỢC ĐỒ QUAN HỆ TƯƠNG ĐƯƠNG</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Một chuyến đi phải tách thành 6 bảng</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68680" y="1975104"/>
          <a:ext cx="10454335" cy="2515698"/>
        </p:xfrm>
        <a:graphic>
          <a:graphicData uri="http://schemas.openxmlformats.org/drawingml/2006/table">
            <a:tbl>
              <a:tblPr/>
              <a:tblGrid>
                <a:gridCol w="2771610">
                  <a:extLst>
                    <a:ext uri="{9D8B030D-6E8A-4147-A177-3AD203B41FA5}">
                      <a16:colId xmlns:a16="http://schemas.microsoft.com/office/drawing/2014/main" val="20000"/>
                    </a:ext>
                  </a:extLst>
                </a:gridCol>
                <a:gridCol w="2950424">
                  <a:extLst>
                    <a:ext uri="{9D8B030D-6E8A-4147-A177-3AD203B41FA5}">
                      <a16:colId xmlns:a16="http://schemas.microsoft.com/office/drawing/2014/main" val="20001"/>
                    </a:ext>
                  </a:extLst>
                </a:gridCol>
                <a:gridCol w="4732301">
                  <a:extLst>
                    <a:ext uri="{9D8B030D-6E8A-4147-A177-3AD203B41FA5}">
                      <a16:colId xmlns:a16="http://schemas.microsoft.com/office/drawing/2014/main" val="20002"/>
                    </a:ext>
                  </a:extLst>
                </a:gridCol>
              </a:tblGrid>
              <a:tr h="325526">
                <a:tc>
                  <a:txBody>
                    <a:bodyPr/>
                    <a:lstStyle/>
                    <a:p>
                      <a:pPr marL="0" indent="0">
                        <a:buNone/>
                      </a:pPr>
                      <a:r>
                        <a:rPr lang="en-US" sz="950" b="1" kern="0" spc="60" dirty="0">
                          <a:solidFill>
                            <a:srgbClr val="000000"/>
                          </a:solidFill>
                          <a:latin typeface="+mn-lt" pitchFamily="34" charset="0"/>
                          <a:ea typeface="+mn-lt" pitchFamily="34" charset="-122"/>
                          <a:cs typeface="+mn-lt" pitchFamily="34" charset="-120"/>
                        </a:rPr>
                        <a:t>BẢNG</a:t>
                      </a:r>
                      <a:endParaRPr lang="en-US" sz="950" dirty="0">
                        <a:latin typeface="+mn-lt" charset="0"/>
                        <a:ea typeface="+mn-lt" charset="0"/>
                        <a:cs typeface="+mn-lt"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950" b="1" kern="0" spc="60" dirty="0">
                          <a:solidFill>
                            <a:srgbClr val="000000"/>
                          </a:solidFill>
                          <a:latin typeface="+mn-lt" pitchFamily="34" charset="0"/>
                          <a:ea typeface="+mn-lt" pitchFamily="34" charset="-122"/>
                          <a:cs typeface="+mn-lt" pitchFamily="34" charset="-120"/>
                        </a:rPr>
                        <a:t>KHOÁ CHÍNH (PK)</a:t>
                      </a:r>
                      <a:endParaRPr lang="en-US" sz="950" dirty="0">
                        <a:latin typeface="+mn-lt" charset="0"/>
                        <a:ea typeface="+mn-lt" charset="0"/>
                        <a:cs typeface="+mn-lt"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950" b="1" kern="0" spc="60" dirty="0">
                          <a:solidFill>
                            <a:srgbClr val="000000"/>
                          </a:solidFill>
                          <a:latin typeface="+mn-lt" pitchFamily="34" charset="0"/>
                          <a:ea typeface="+mn-lt" pitchFamily="34" charset="-122"/>
                          <a:cs typeface="+mn-lt" pitchFamily="34" charset="-120"/>
                        </a:rPr>
                        <a:t>KHOÁ NGOẠI (FK)</a:t>
                      </a:r>
                      <a:endParaRPr lang="en-US" sz="950" dirty="0">
                        <a:latin typeface="+mn-lt" charset="0"/>
                        <a:ea typeface="+mn-lt" charset="0"/>
                        <a:cs typeface="+mn-lt"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user_id → users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trip_destinations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destination_id)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 trips</a:t>
                      </a:r>
                      <a:endParaRPr lang="en-US" sz="1050" dirty="0">
                        <a:latin typeface="Consolas" charset="0"/>
                        <a:ea typeface="Consolas" charset="0"/>
                        <a:cs typeface="Consolas" charset="0"/>
                      </a:endParaRPr>
                    </a:p>
                    <a:p>
                      <a:pPr marL="0" indent="0">
                        <a:buNone/>
                      </a:pPr>
                      <a:r>
                        <a:rPr lang="en-US" sz="1050" dirty="0">
                          <a:solidFill>
                            <a:srgbClr val="000000"/>
                          </a:solidFill>
                          <a:latin typeface="Consolas" pitchFamily="34" charset="0"/>
                          <a:ea typeface="Consolas" pitchFamily="34" charset="-122"/>
                          <a:cs typeface="Consolas" pitchFamily="34" charset="-120"/>
                        </a:rPr>
                        <a:t>destination_id → destinations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itinerary_days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day_id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 trips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itinerary_activities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activity_id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day_id → itinerary_days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budget</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budget_id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 trips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1803">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trip_participants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user_id)</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onsolas" pitchFamily="34" charset="0"/>
                          <a:ea typeface="Consolas" pitchFamily="34" charset="-122"/>
                          <a:cs typeface="Consolas" pitchFamily="34" charset="-120"/>
                        </a:rPr>
                        <a:t>trip_id → trips</a:t>
                      </a:r>
                      <a:endParaRPr lang="en-US" sz="1050" dirty="0">
                        <a:latin typeface="Consolas" charset="0"/>
                        <a:ea typeface="Consolas" charset="0"/>
                        <a:cs typeface="Consolas" charset="0"/>
                      </a:endParaRPr>
                    </a:p>
                    <a:p>
                      <a:pPr marL="0" indent="0">
                        <a:buNone/>
                      </a:pPr>
                      <a:r>
                        <a:rPr lang="en-US" sz="1050" dirty="0">
                          <a:solidFill>
                            <a:srgbClr val="000000"/>
                          </a:solidFill>
                          <a:latin typeface="Consolas" pitchFamily="34" charset="0"/>
                          <a:ea typeface="Consolas" pitchFamily="34" charset="-122"/>
                          <a:cs typeface="Consolas" pitchFamily="34" charset="-120"/>
                        </a:rPr>
                        <a:t>user_id → users</a:t>
                      </a:r>
                      <a:endParaRPr lang="en-US" sz="1050" dirty="0">
                        <a:latin typeface="Consolas" charset="0"/>
                        <a:ea typeface="Consolas" charset="0"/>
                        <a:cs typeface="Consolas"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3"/>
          <p:cNvSpPr/>
          <p:nvPr/>
        </p:nvSpPr>
        <p:spPr>
          <a:xfrm>
            <a:off x="868680" y="4514210"/>
            <a:ext cx="10454335" cy="691744"/>
          </a:xfrm>
          <a:prstGeom prst="roundRect">
            <a:avLst>
              <a:gd name="adj" fmla="val 7931"/>
            </a:avLst>
          </a:prstGeom>
          <a:solidFill>
            <a:srgbClr val="F0D2BF"/>
          </a:solidFill>
          <a:ln/>
        </p:spPr>
        <p:txBody>
          <a:bodyPr/>
          <a:lstStyle/>
          <a:p>
            <a:endParaRPr lang="en-US"/>
          </a:p>
        </p:txBody>
      </p:sp>
      <p:sp>
        <p:nvSpPr>
          <p:cNvPr id="7" name="Text 4"/>
          <p:cNvSpPr/>
          <p:nvPr/>
        </p:nvSpPr>
        <p:spPr>
          <a:xfrm>
            <a:off x="1143000" y="4559930"/>
            <a:ext cx="9905695" cy="600304"/>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6 bảng ·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8 khoá ngoại</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phải khai báo và duy trì — chỉ để lưu đúng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một</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chuyến đi.</a:t>
            </a:r>
            <a:endParaRPr lang="en-US" sz="1450" dirty="0">
              <a:latin typeface="Times New Roman" panose="02020603050405020304" pitchFamily="18" charset="0"/>
              <a:cs typeface="Times New Roman" panose="02020603050405020304" pitchFamily="18" charset="0"/>
            </a:endParaRPr>
          </a:p>
        </p:txBody>
      </p:sp>
      <p:sp>
        <p:nvSpPr>
          <p:cNvPr id="8" name="Shape 5"/>
          <p:cNvSpPr/>
          <p:nvPr/>
        </p:nvSpPr>
        <p:spPr>
          <a:xfrm>
            <a:off x="868680" y="5961888"/>
            <a:ext cx="10454335" cy="7315"/>
          </a:xfrm>
          <a:prstGeom prst="rect">
            <a:avLst/>
          </a:prstGeom>
          <a:solidFill>
            <a:srgbClr val="C9CFCB"/>
          </a:solidFill>
          <a:ln/>
        </p:spPr>
        <p:txBody>
          <a:bodyPr/>
          <a:lstStyle/>
          <a:p>
            <a:endParaRPr lang="en-US"/>
          </a:p>
        </p:txBody>
      </p:sp>
      <p:sp>
        <p:nvSpPr>
          <p:cNvPr id="9" name="Text 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2 · Vấn đề</a:t>
            </a:r>
            <a:endParaRPr lang="en-US" sz="900" dirty="0"/>
          </a:p>
        </p:txBody>
      </p:sp>
      <p:sp>
        <p:nvSpPr>
          <p:cNvPr id="10" name="Text 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2 · VẤN ĐỀ   ·   HẬU QUẢ</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Tách bảng thì phải ghép lại khi đọc</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905256" y="2259482"/>
            <a:ext cx="82296" cy="82296"/>
          </a:xfrm>
          <a:prstGeom prst="ellipse">
            <a:avLst/>
          </a:prstGeom>
          <a:solidFill>
            <a:srgbClr val="000000"/>
          </a:solidFill>
          <a:ln/>
        </p:spPr>
        <p:txBody>
          <a:bodyPr/>
          <a:lstStyle/>
          <a:p>
            <a:endParaRPr lang="en-US"/>
          </a:p>
        </p:txBody>
      </p:sp>
      <p:sp>
        <p:nvSpPr>
          <p:cNvPr id="6" name="Text 4"/>
          <p:cNvSpPr/>
          <p:nvPr/>
        </p:nvSpPr>
        <p:spPr>
          <a:xfrm>
            <a:off x="1179576" y="1975104"/>
            <a:ext cx="10143439" cy="651053"/>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Lấy 1 chuyến đi để hiển thị → phải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JOIN 6 bảng</a:t>
            </a:r>
            <a:endParaRPr lang="en-US" sz="1550" dirty="0">
              <a:latin typeface="Times New Roman" panose="02020603050405020304" pitchFamily="18" charset="0"/>
              <a:cs typeface="Times New Roman" panose="02020603050405020304" pitchFamily="18" charset="0"/>
            </a:endParaRPr>
          </a:p>
        </p:txBody>
      </p:sp>
      <p:sp>
        <p:nvSpPr>
          <p:cNvPr id="7" name="Shape 5"/>
          <p:cNvSpPr/>
          <p:nvPr/>
        </p:nvSpPr>
        <p:spPr>
          <a:xfrm>
            <a:off x="905256" y="2910535"/>
            <a:ext cx="82296" cy="82296"/>
          </a:xfrm>
          <a:prstGeom prst="ellipse">
            <a:avLst/>
          </a:prstGeom>
          <a:solidFill>
            <a:srgbClr val="000000"/>
          </a:solidFill>
          <a:ln/>
        </p:spPr>
        <p:txBody>
          <a:bodyPr/>
          <a:lstStyle/>
          <a:p>
            <a:endParaRPr lang="en-US"/>
          </a:p>
        </p:txBody>
      </p:sp>
      <p:sp>
        <p:nvSpPr>
          <p:cNvPr id="8" name="Text 6"/>
          <p:cNvSpPr/>
          <p:nvPr/>
        </p:nvSpPr>
        <p:spPr>
          <a:xfrm>
            <a:off x="1179576" y="2626157"/>
            <a:ext cx="10143439" cy="651053"/>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Bảng tin 20 bài viết →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20 lần ghép</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như vậy</a:t>
            </a:r>
            <a:endParaRPr lang="en-US" sz="1550" dirty="0">
              <a:latin typeface="Times New Roman" panose="02020603050405020304" pitchFamily="18" charset="0"/>
              <a:cs typeface="Times New Roman" panose="02020603050405020304" pitchFamily="18" charset="0"/>
            </a:endParaRPr>
          </a:p>
        </p:txBody>
      </p:sp>
      <p:sp>
        <p:nvSpPr>
          <p:cNvPr id="9" name="Shape 7"/>
          <p:cNvSpPr/>
          <p:nvPr/>
        </p:nvSpPr>
        <p:spPr>
          <a:xfrm>
            <a:off x="905256" y="3561588"/>
            <a:ext cx="82296" cy="82296"/>
          </a:xfrm>
          <a:prstGeom prst="ellipse">
            <a:avLst/>
          </a:prstGeom>
          <a:solidFill>
            <a:srgbClr val="000000"/>
          </a:solidFill>
          <a:ln/>
        </p:spPr>
        <p:txBody>
          <a:bodyPr/>
          <a:lstStyle/>
          <a:p>
            <a:endParaRPr lang="en-US"/>
          </a:p>
        </p:txBody>
      </p:sp>
      <p:sp>
        <p:nvSpPr>
          <p:cNvPr id="10" name="Text 8"/>
          <p:cNvSpPr/>
          <p:nvPr/>
        </p:nvSpPr>
        <p:spPr>
          <a:xfrm>
            <a:off x="1179576" y="3277210"/>
            <a:ext cx="10143439" cy="651053"/>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Thêm 1 trường mới → phải chạy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ALTER TABLE</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trên bảng có thể đã hàng triệu dòng</a:t>
            </a:r>
            <a:endParaRPr lang="en-US" sz="1550" dirty="0">
              <a:latin typeface="Times New Roman" panose="02020603050405020304" pitchFamily="18" charset="0"/>
              <a:cs typeface="Times New Roman" panose="02020603050405020304" pitchFamily="18" charset="0"/>
            </a:endParaRPr>
          </a:p>
        </p:txBody>
      </p:sp>
      <p:sp>
        <p:nvSpPr>
          <p:cNvPr id="11" name="Shape 9"/>
          <p:cNvSpPr/>
          <p:nvPr/>
        </p:nvSpPr>
        <p:spPr>
          <a:xfrm>
            <a:off x="868680" y="4091026"/>
            <a:ext cx="10454335" cy="935888"/>
          </a:xfrm>
          <a:prstGeom prst="roundRect">
            <a:avLst>
              <a:gd name="adj" fmla="val 5862"/>
            </a:avLst>
          </a:prstGeom>
          <a:solidFill>
            <a:srgbClr val="F0D2BF"/>
          </a:solidFill>
          <a:ln/>
        </p:spPr>
        <p:txBody>
          <a:bodyPr/>
          <a:lstStyle/>
          <a:p>
            <a:endParaRPr lang="en-US"/>
          </a:p>
        </p:txBody>
      </p:sp>
      <p:sp>
        <p:nvSpPr>
          <p:cNvPr id="12" name="Text 10"/>
          <p:cNvSpPr/>
          <p:nvPr/>
        </p:nvSpPr>
        <p:spPr>
          <a:xfrm>
            <a:off x="1143000" y="4136746"/>
            <a:ext cx="9905695" cy="844448"/>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JOIN là phép ghép nhiều bảng lại. Giống như có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6 quyển sổ riêng</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muốn biết đầy đủ về một chuyến đi thì phải mở cả 6 quyển và đối chiếu theo mã số.</a:t>
            </a:r>
            <a:endParaRPr lang="en-US" sz="1450" dirty="0">
              <a:latin typeface="Times New Roman" panose="02020603050405020304" pitchFamily="18" charset="0"/>
              <a:cs typeface="Times New Roman" panose="02020603050405020304" pitchFamily="18" charset="0"/>
            </a:endParaRPr>
          </a:p>
        </p:txBody>
      </p:sp>
      <p:sp>
        <p:nvSpPr>
          <p:cNvPr id="13" name="Shape 11"/>
          <p:cNvSpPr/>
          <p:nvPr/>
        </p:nvSpPr>
        <p:spPr>
          <a:xfrm>
            <a:off x="868680" y="5961888"/>
            <a:ext cx="10454335" cy="7315"/>
          </a:xfrm>
          <a:prstGeom prst="rect">
            <a:avLst/>
          </a:prstGeom>
          <a:solidFill>
            <a:srgbClr val="C9CFCB"/>
          </a:solidFill>
          <a:ln/>
        </p:spPr>
        <p:txBody>
          <a:bodyPr/>
          <a:lstStyle/>
          <a:p>
            <a:endParaRPr lang="en-US"/>
          </a:p>
        </p:txBody>
      </p:sp>
      <p:sp>
        <p:nvSpPr>
          <p:cNvPr id="14" name="Text 12"/>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2 · Vấn đề</a:t>
            </a:r>
            <a:endParaRPr lang="en-US" sz="900" dirty="0"/>
          </a:p>
        </p:txBody>
      </p:sp>
      <p:sp>
        <p:nvSpPr>
          <p:cNvPr id="15" name="Text 13"/>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3 · COUCHBASE   ·   GIỚI THIỆU</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Couchbase là gì?</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Text 3"/>
          <p:cNvSpPr/>
          <p:nvPr/>
        </p:nvSpPr>
        <p:spPr>
          <a:xfrm>
            <a:off x="868680" y="1975104"/>
            <a:ext cx="10454335" cy="406908"/>
          </a:xfrm>
          <a:prstGeom prst="rect">
            <a:avLst/>
          </a:prstGeom>
          <a:noFill/>
          <a:ln/>
        </p:spPr>
        <p:txBody>
          <a:bodyPr wrap="square" rtlCol="0" anchor="t">
            <a:normAutofit/>
          </a:bodyPr>
          <a:lstStyle/>
          <a:p>
            <a:pPr marL="0" indent="0">
              <a:buNone/>
            </a:pPr>
            <a:r>
              <a:rPr lang="en-US" sz="1600" dirty="0">
                <a:solidFill>
                  <a:srgbClr val="2C3932"/>
                </a:solidFill>
                <a:latin typeface="Times New Roman" panose="02020603050405020304" pitchFamily="18" charset="0"/>
                <a:ea typeface="+mn-lt" pitchFamily="34" charset="-122"/>
                <a:cs typeface="Times New Roman" panose="02020603050405020304" pitchFamily="18" charset="0"/>
              </a:rPr>
              <a:t>Một </a:t>
            </a:r>
            <a:r>
              <a:rPr lang="en-US" sz="1600" b="1" dirty="0">
                <a:solidFill>
                  <a:srgbClr val="000000"/>
                </a:solidFill>
                <a:latin typeface="Times New Roman" panose="02020603050405020304" pitchFamily="18" charset="0"/>
                <a:ea typeface="+mn-lt" pitchFamily="34" charset="-122"/>
                <a:cs typeface="Times New Roman" panose="02020603050405020304" pitchFamily="18" charset="0"/>
              </a:rPr>
              <a:t>hệ quản trị cơ sở dữ liệu NoSQL</a:t>
            </a:r>
            <a:r>
              <a:rPr lang="en-US" sz="1600" dirty="0">
                <a:solidFill>
                  <a:srgbClr val="2C3932"/>
                </a:solidFill>
                <a:latin typeface="Times New Roman" panose="02020603050405020304" pitchFamily="18" charset="0"/>
                <a:ea typeface="+mn-lt" pitchFamily="34" charset="-122"/>
                <a:cs typeface="Times New Roman" panose="02020603050405020304" pitchFamily="18" charset="0"/>
              </a:rPr>
              <a:t> mã nguồn mở, ra đời năm 2011, chuyên lưu dữ liệu dạng </a:t>
            </a:r>
            <a:r>
              <a:rPr lang="en-US" sz="1600" b="1" dirty="0">
                <a:solidFill>
                  <a:srgbClr val="000000"/>
                </a:solidFill>
                <a:latin typeface="Times New Roman" panose="02020603050405020304" pitchFamily="18" charset="0"/>
                <a:ea typeface="+mn-lt" pitchFamily="34" charset="-122"/>
                <a:cs typeface="Times New Roman" panose="02020603050405020304" pitchFamily="18" charset="0"/>
              </a:rPr>
              <a:t>JSON</a:t>
            </a:r>
            <a:r>
              <a:rPr lang="en-US" sz="1600" dirty="0">
                <a:solidFill>
                  <a:srgbClr val="2C3932"/>
                </a:solidFill>
                <a:latin typeface="Times New Roman" panose="02020603050405020304" pitchFamily="18" charset="0"/>
                <a:ea typeface="+mn-lt"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905256" y="2747772"/>
            <a:ext cx="82296" cy="82296"/>
          </a:xfrm>
          <a:prstGeom prst="ellipse">
            <a:avLst/>
          </a:prstGeom>
          <a:solidFill>
            <a:srgbClr val="000000"/>
          </a:solidFill>
          <a:ln/>
        </p:spPr>
        <p:txBody>
          <a:bodyPr/>
          <a:lstStyle/>
          <a:p>
            <a:endParaRPr lang="en-US"/>
          </a:p>
        </p:txBody>
      </p:sp>
      <p:sp>
        <p:nvSpPr>
          <p:cNvPr id="7" name="Text 5"/>
          <p:cNvSpPr/>
          <p:nvPr/>
        </p:nvSpPr>
        <p:spPr>
          <a:xfrm>
            <a:off x="1179576" y="2544775"/>
            <a:ext cx="10143439" cy="488290"/>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Kiểu dữ liệu:</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document (tài liệu JSON) — không phải bảng và dòng</a:t>
            </a:r>
            <a:endParaRPr lang="en-US" sz="1550" dirty="0">
              <a:latin typeface="Times New Roman" panose="02020603050405020304" pitchFamily="18" charset="0"/>
              <a:cs typeface="Times New Roman" panose="02020603050405020304" pitchFamily="18" charset="0"/>
            </a:endParaRPr>
          </a:p>
        </p:txBody>
      </p:sp>
      <p:sp>
        <p:nvSpPr>
          <p:cNvPr id="8" name="Shape 6"/>
          <p:cNvSpPr/>
          <p:nvPr/>
        </p:nvSpPr>
        <p:spPr>
          <a:xfrm>
            <a:off x="905256" y="3236062"/>
            <a:ext cx="82296" cy="82296"/>
          </a:xfrm>
          <a:prstGeom prst="ellipse">
            <a:avLst/>
          </a:prstGeom>
          <a:solidFill>
            <a:srgbClr val="000000"/>
          </a:solidFill>
          <a:ln/>
        </p:spPr>
        <p:txBody>
          <a:bodyPr/>
          <a:lstStyle/>
          <a:p>
            <a:endParaRPr lang="en-US"/>
          </a:p>
        </p:txBody>
      </p:sp>
      <p:sp>
        <p:nvSpPr>
          <p:cNvPr id="9" name="Text 7"/>
          <p:cNvSpPr/>
          <p:nvPr/>
        </p:nvSpPr>
        <p:spPr>
          <a:xfrm>
            <a:off x="1179576" y="3033065"/>
            <a:ext cx="10143439" cy="488290"/>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Chạy trên nhiều máy</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cùng lúc, gọi là cluster — thêm máy để tăng sức chứa và tốc độ</a:t>
            </a:r>
            <a:endParaRPr lang="en-US" sz="1550" dirty="0">
              <a:latin typeface="Times New Roman" panose="02020603050405020304" pitchFamily="18" charset="0"/>
              <a:cs typeface="Times New Roman" panose="02020603050405020304" pitchFamily="18" charset="0"/>
            </a:endParaRPr>
          </a:p>
        </p:txBody>
      </p:sp>
      <p:sp>
        <p:nvSpPr>
          <p:cNvPr id="10" name="Shape 8"/>
          <p:cNvSpPr/>
          <p:nvPr/>
        </p:nvSpPr>
        <p:spPr>
          <a:xfrm>
            <a:off x="905256" y="3724351"/>
            <a:ext cx="82296" cy="82296"/>
          </a:xfrm>
          <a:prstGeom prst="ellipse">
            <a:avLst/>
          </a:prstGeom>
          <a:solidFill>
            <a:srgbClr val="000000"/>
          </a:solidFill>
          <a:ln/>
        </p:spPr>
        <p:txBody>
          <a:bodyPr/>
          <a:lstStyle/>
          <a:p>
            <a:endParaRPr lang="en-US"/>
          </a:p>
        </p:txBody>
      </p:sp>
      <p:sp>
        <p:nvSpPr>
          <p:cNvPr id="11" name="Text 9"/>
          <p:cNvSpPr/>
          <p:nvPr/>
        </p:nvSpPr>
        <p:spPr>
          <a:xfrm>
            <a:off x="1179576" y="3521354"/>
            <a:ext cx="10143439" cy="488290"/>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Có sẵn bộ nhớ đệm bên trong</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dữ liệu hay dùng nằm sẵn trên RAM nên đọc rất nhanh</a:t>
            </a:r>
            <a:endParaRPr lang="en-US" sz="1550" dirty="0">
              <a:latin typeface="Times New Roman" panose="02020603050405020304" pitchFamily="18" charset="0"/>
              <a:cs typeface="Times New Roman" panose="02020603050405020304" pitchFamily="18" charset="0"/>
            </a:endParaRPr>
          </a:p>
        </p:txBody>
      </p:sp>
      <p:sp>
        <p:nvSpPr>
          <p:cNvPr id="12" name="Shape 10"/>
          <p:cNvSpPr/>
          <p:nvPr/>
        </p:nvSpPr>
        <p:spPr>
          <a:xfrm>
            <a:off x="905256" y="4212641"/>
            <a:ext cx="82296" cy="82296"/>
          </a:xfrm>
          <a:prstGeom prst="ellipse">
            <a:avLst/>
          </a:prstGeom>
          <a:solidFill>
            <a:srgbClr val="000000"/>
          </a:solidFill>
          <a:ln/>
        </p:spPr>
        <p:txBody>
          <a:bodyPr/>
          <a:lstStyle/>
          <a:p>
            <a:endParaRPr lang="en-US"/>
          </a:p>
        </p:txBody>
      </p:sp>
      <p:sp>
        <p:nvSpPr>
          <p:cNvPr id="13" name="Text 11"/>
          <p:cNvSpPr/>
          <p:nvPr/>
        </p:nvSpPr>
        <p:spPr>
          <a:xfrm>
            <a:off x="1179576" y="4009644"/>
            <a:ext cx="10143439" cy="488290"/>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Có giao diện quản trị web</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xem và sửa dữ liệu trực tiếp trên trình duyệt</a:t>
            </a:r>
            <a:endParaRPr lang="en-US" sz="1550" dirty="0">
              <a:latin typeface="Times New Roman" panose="02020603050405020304" pitchFamily="18" charset="0"/>
              <a:cs typeface="Times New Roman" panose="02020603050405020304" pitchFamily="18" charset="0"/>
            </a:endParaRPr>
          </a:p>
        </p:txBody>
      </p:sp>
      <p:sp>
        <p:nvSpPr>
          <p:cNvPr id="14" name="Shape 12"/>
          <p:cNvSpPr/>
          <p:nvPr/>
        </p:nvSpPr>
        <p:spPr>
          <a:xfrm>
            <a:off x="905256" y="4700930"/>
            <a:ext cx="82296" cy="82296"/>
          </a:xfrm>
          <a:prstGeom prst="ellipse">
            <a:avLst/>
          </a:prstGeom>
          <a:solidFill>
            <a:srgbClr val="000000"/>
          </a:solidFill>
          <a:ln/>
        </p:spPr>
        <p:txBody>
          <a:bodyPr/>
          <a:lstStyle/>
          <a:p>
            <a:endParaRPr lang="en-US"/>
          </a:p>
        </p:txBody>
      </p:sp>
      <p:sp>
        <p:nvSpPr>
          <p:cNvPr id="15" name="Text 13"/>
          <p:cNvSpPr/>
          <p:nvPr/>
        </p:nvSpPr>
        <p:spPr>
          <a:xfrm>
            <a:off x="1179576" y="4497934"/>
            <a:ext cx="10143439" cy="488290"/>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Truy vấn bằng câu lệnh giống SQL</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điểm nhóm em sẽ nói kỹ ở các slide sau</a:t>
            </a:r>
            <a:endParaRPr lang="en-US" sz="1550" dirty="0">
              <a:latin typeface="Times New Roman" panose="02020603050405020304" pitchFamily="18" charset="0"/>
              <a:cs typeface="Times New Roman" panose="02020603050405020304" pitchFamily="18" charset="0"/>
            </a:endParaRPr>
          </a:p>
        </p:txBody>
      </p:sp>
      <p:sp>
        <p:nvSpPr>
          <p:cNvPr id="16" name="Shape 14"/>
          <p:cNvSpPr/>
          <p:nvPr/>
        </p:nvSpPr>
        <p:spPr>
          <a:xfrm>
            <a:off x="868680" y="5148986"/>
            <a:ext cx="10454335" cy="651053"/>
          </a:xfrm>
          <a:prstGeom prst="roundRect">
            <a:avLst>
              <a:gd name="adj" fmla="val 8427"/>
            </a:avLst>
          </a:prstGeom>
          <a:solidFill>
            <a:srgbClr val="F0D2BF"/>
          </a:solidFill>
          <a:ln/>
        </p:spPr>
        <p:txBody>
          <a:bodyPr/>
          <a:lstStyle/>
          <a:p>
            <a:endParaRPr lang="en-US"/>
          </a:p>
        </p:txBody>
      </p:sp>
      <p:sp>
        <p:nvSpPr>
          <p:cNvPr id="17" name="Text 15"/>
          <p:cNvSpPr/>
          <p:nvPr/>
        </p:nvSpPr>
        <p:spPr>
          <a:xfrm>
            <a:off x="1143000" y="5194706"/>
            <a:ext cx="9905695" cy="559613"/>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Một số nơi đang dùng Couchbase: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LinkedIn · eBay · PayPal · Amadeus · Viber</a:t>
            </a:r>
            <a:endParaRPr lang="en-US" sz="1450" dirty="0">
              <a:latin typeface="Times New Roman" panose="02020603050405020304" pitchFamily="18" charset="0"/>
              <a:cs typeface="Times New Roman" panose="02020603050405020304" pitchFamily="18" charset="0"/>
            </a:endParaRPr>
          </a:p>
        </p:txBody>
      </p:sp>
      <p:sp>
        <p:nvSpPr>
          <p:cNvPr id="18" name="Shape 16"/>
          <p:cNvSpPr/>
          <p:nvPr/>
        </p:nvSpPr>
        <p:spPr>
          <a:xfrm>
            <a:off x="868680" y="5961888"/>
            <a:ext cx="10454335" cy="7315"/>
          </a:xfrm>
          <a:prstGeom prst="rect">
            <a:avLst/>
          </a:prstGeom>
          <a:solidFill>
            <a:srgbClr val="C9CFCB"/>
          </a:solidFill>
          <a:ln/>
        </p:spPr>
        <p:txBody>
          <a:bodyPr/>
          <a:lstStyle/>
          <a:p>
            <a:endParaRPr lang="en-US"/>
          </a:p>
        </p:txBody>
      </p:sp>
      <p:sp>
        <p:nvSpPr>
          <p:cNvPr id="19" name="Text 17"/>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3 · Couchbase</a:t>
            </a:r>
            <a:endParaRPr lang="en-US" sz="900" dirty="0"/>
          </a:p>
        </p:txBody>
      </p:sp>
      <p:sp>
        <p:nvSpPr>
          <p:cNvPr id="20" name="Text 18"/>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3 · COUCHBASE   ·   CÁCH LƯU DỮ LIỆU</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Couchbase lưu dữ liệu thành document, không thành dòng</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Text 3"/>
          <p:cNvSpPr/>
          <p:nvPr/>
        </p:nvSpPr>
        <p:spPr>
          <a:xfrm>
            <a:off x="868680" y="1975104"/>
            <a:ext cx="10454335" cy="406908"/>
          </a:xfrm>
          <a:prstGeom prst="rect">
            <a:avLst/>
          </a:prstGeom>
          <a:noFill/>
          <a:ln/>
        </p:spPr>
        <p:txBody>
          <a:bodyPr wrap="square" rtlCol="0" anchor="t">
            <a:normAutofit/>
          </a:bodyPr>
          <a:lstStyle/>
          <a:p>
            <a:pPr marL="0" indent="0">
              <a:buNone/>
            </a:pPr>
            <a:r>
              <a:rPr lang="en-US" sz="1600" dirty="0">
                <a:solidFill>
                  <a:srgbClr val="2C3932"/>
                </a:solidFill>
                <a:latin typeface="+mn-lt" pitchFamily="34" charset="0"/>
                <a:ea typeface="+mn-lt" pitchFamily="34" charset="-122"/>
                <a:cs typeface="+mn-lt" pitchFamily="34" charset="-120"/>
              </a:rPr>
              <a:t>Thay vì lưu thành dòng trong bảng, nó lưu thành </a:t>
            </a:r>
            <a:r>
              <a:rPr lang="en-US" sz="1600" b="1" dirty="0">
                <a:solidFill>
                  <a:srgbClr val="000000"/>
                </a:solidFill>
                <a:latin typeface="+mn-lt" pitchFamily="34" charset="0"/>
                <a:ea typeface="+mn-lt" pitchFamily="34" charset="-122"/>
                <a:cs typeface="+mn-lt" pitchFamily="34" charset="-120"/>
              </a:rPr>
              <a:t>document JSON</a:t>
            </a:r>
            <a:r>
              <a:rPr lang="en-US" sz="1600" dirty="0">
                <a:solidFill>
                  <a:srgbClr val="2C3932"/>
                </a:solidFill>
                <a:latin typeface="+mn-lt" pitchFamily="34" charset="0"/>
                <a:ea typeface="+mn-lt" pitchFamily="34" charset="-122"/>
                <a:cs typeface="+mn-lt" pitchFamily="34" charset="-120"/>
              </a:rPr>
              <a:t>.</a:t>
            </a:r>
            <a:endParaRPr lang="en-US" sz="1600" dirty="0"/>
          </a:p>
        </p:txBody>
      </p:sp>
      <p:sp>
        <p:nvSpPr>
          <p:cNvPr id="6" name="Shape 4"/>
          <p:cNvSpPr/>
          <p:nvPr/>
        </p:nvSpPr>
        <p:spPr>
          <a:xfrm>
            <a:off x="905256" y="2544775"/>
            <a:ext cx="3411626" cy="935888"/>
          </a:xfrm>
          <a:prstGeom prst="roundRect">
            <a:avLst>
              <a:gd name="adj" fmla="val 5862"/>
            </a:avLst>
          </a:prstGeom>
          <a:solidFill>
            <a:srgbClr val="FDF6EA"/>
          </a:solidFill>
          <a:ln w="9525">
            <a:solidFill>
              <a:srgbClr val="C9CFCB"/>
            </a:solidFill>
            <a:prstDash val="solid"/>
          </a:ln>
        </p:spPr>
        <p:txBody>
          <a:bodyPr/>
          <a:lstStyle/>
          <a:p>
            <a:endParaRPr lang="en-US"/>
          </a:p>
        </p:txBody>
      </p:sp>
      <p:sp>
        <p:nvSpPr>
          <p:cNvPr id="7" name="Text 5"/>
          <p:cNvSpPr/>
          <p:nvPr/>
        </p:nvSpPr>
        <p:spPr>
          <a:xfrm>
            <a:off x="1106424" y="2654503"/>
            <a:ext cx="3009290" cy="292608"/>
          </a:xfrm>
          <a:prstGeom prst="rect">
            <a:avLst/>
          </a:prstGeom>
          <a:noFill/>
          <a:ln/>
        </p:spPr>
        <p:txBody>
          <a:bodyPr wrap="square" rtlCol="0" anchor="ctr"/>
          <a:lstStyle/>
          <a:p>
            <a:pPr marL="0" indent="0">
              <a:buNone/>
            </a:pPr>
            <a:r>
              <a:rPr lang="en-US" sz="1500" b="1" dirty="0">
                <a:solidFill>
                  <a:srgbClr val="000000"/>
                </a:solidFill>
                <a:latin typeface="+mj-lt" pitchFamily="34" charset="0"/>
                <a:ea typeface="+mj-lt" pitchFamily="34" charset="-122"/>
                <a:cs typeface="+mj-lt" pitchFamily="34" charset="-120"/>
              </a:rPr>
              <a:t>1 chuyến đi</a:t>
            </a:r>
            <a:endParaRPr lang="en-US" sz="1500" dirty="0"/>
          </a:p>
        </p:txBody>
      </p:sp>
      <p:sp>
        <p:nvSpPr>
          <p:cNvPr id="8" name="Text 6"/>
          <p:cNvSpPr/>
          <p:nvPr/>
        </p:nvSpPr>
        <p:spPr>
          <a:xfrm>
            <a:off x="1106424" y="2965399"/>
            <a:ext cx="3009290" cy="405536"/>
          </a:xfrm>
          <a:prstGeom prst="rect">
            <a:avLst/>
          </a:prstGeom>
          <a:noFill/>
          <a:ln/>
        </p:spPr>
        <p:txBody>
          <a:bodyPr wrap="square" rtlCol="0" anchor="t">
            <a:normAutofit/>
          </a:bodyPr>
          <a:lstStyle/>
          <a:p>
            <a:pPr marL="0" indent="0">
              <a:buNone/>
            </a:pPr>
            <a:r>
              <a:rPr lang="en-US" sz="1150" dirty="0">
                <a:solidFill>
                  <a:srgbClr val="6E7C75"/>
                </a:solidFill>
                <a:latin typeface="+mn-lt" pitchFamily="34" charset="0"/>
                <a:ea typeface="+mn-lt" pitchFamily="34" charset="-122"/>
                <a:cs typeface="+mn-lt" pitchFamily="34" charset="-120"/>
              </a:rPr>
              <a:t>= 1 document</a:t>
            </a:r>
            <a:endParaRPr lang="en-US" sz="1150" dirty="0"/>
          </a:p>
        </p:txBody>
      </p:sp>
      <p:sp>
        <p:nvSpPr>
          <p:cNvPr id="9" name="Shape 7"/>
          <p:cNvSpPr/>
          <p:nvPr/>
        </p:nvSpPr>
        <p:spPr>
          <a:xfrm>
            <a:off x="4390034" y="2544775"/>
            <a:ext cx="3411626" cy="935888"/>
          </a:xfrm>
          <a:prstGeom prst="roundRect">
            <a:avLst>
              <a:gd name="adj" fmla="val 5862"/>
            </a:avLst>
          </a:prstGeom>
          <a:solidFill>
            <a:srgbClr val="FDF6EA"/>
          </a:solidFill>
          <a:ln w="9525">
            <a:solidFill>
              <a:srgbClr val="C9CFCB"/>
            </a:solidFill>
            <a:prstDash val="solid"/>
          </a:ln>
        </p:spPr>
        <p:txBody>
          <a:bodyPr/>
          <a:lstStyle/>
          <a:p>
            <a:endParaRPr lang="en-US"/>
          </a:p>
        </p:txBody>
      </p:sp>
      <p:sp>
        <p:nvSpPr>
          <p:cNvPr id="10" name="Text 8"/>
          <p:cNvSpPr/>
          <p:nvPr/>
        </p:nvSpPr>
        <p:spPr>
          <a:xfrm>
            <a:off x="4591202" y="2654503"/>
            <a:ext cx="3009290" cy="292608"/>
          </a:xfrm>
          <a:prstGeom prst="rect">
            <a:avLst/>
          </a:prstGeom>
          <a:noFill/>
          <a:ln/>
        </p:spPr>
        <p:txBody>
          <a:bodyPr wrap="square" rtlCol="0" anchor="ctr"/>
          <a:lstStyle/>
          <a:p>
            <a:pPr marL="0" indent="0">
              <a:buNone/>
            </a:pPr>
            <a:r>
              <a:rPr lang="en-US" sz="1500" b="1" dirty="0">
                <a:solidFill>
                  <a:srgbClr val="000000"/>
                </a:solidFill>
                <a:latin typeface="+mj-lt" pitchFamily="34" charset="0"/>
                <a:ea typeface="+mj-lt" pitchFamily="34" charset="-122"/>
                <a:cs typeface="+mj-lt" pitchFamily="34" charset="-120"/>
              </a:rPr>
              <a:t>1 người dùng</a:t>
            </a:r>
            <a:endParaRPr lang="en-US" sz="1500" dirty="0"/>
          </a:p>
        </p:txBody>
      </p:sp>
      <p:sp>
        <p:nvSpPr>
          <p:cNvPr id="11" name="Text 9"/>
          <p:cNvSpPr/>
          <p:nvPr/>
        </p:nvSpPr>
        <p:spPr>
          <a:xfrm>
            <a:off x="4591202" y="2965399"/>
            <a:ext cx="3009290" cy="405536"/>
          </a:xfrm>
          <a:prstGeom prst="rect">
            <a:avLst/>
          </a:prstGeom>
          <a:noFill/>
          <a:ln/>
        </p:spPr>
        <p:txBody>
          <a:bodyPr wrap="square" rtlCol="0" anchor="t">
            <a:normAutofit/>
          </a:bodyPr>
          <a:lstStyle/>
          <a:p>
            <a:pPr marL="0" indent="0">
              <a:buNone/>
            </a:pPr>
            <a:r>
              <a:rPr lang="en-US" sz="1150" dirty="0">
                <a:solidFill>
                  <a:srgbClr val="6E7C75"/>
                </a:solidFill>
                <a:latin typeface="+mn-lt" pitchFamily="34" charset="0"/>
                <a:ea typeface="+mn-lt" pitchFamily="34" charset="-122"/>
                <a:cs typeface="+mn-lt" pitchFamily="34" charset="-120"/>
              </a:rPr>
              <a:t>= 1 document</a:t>
            </a:r>
            <a:endParaRPr lang="en-US" sz="1150" dirty="0"/>
          </a:p>
        </p:txBody>
      </p:sp>
      <p:sp>
        <p:nvSpPr>
          <p:cNvPr id="12" name="Shape 10"/>
          <p:cNvSpPr/>
          <p:nvPr/>
        </p:nvSpPr>
        <p:spPr>
          <a:xfrm>
            <a:off x="7874813" y="2544775"/>
            <a:ext cx="3411626" cy="935888"/>
          </a:xfrm>
          <a:prstGeom prst="roundRect">
            <a:avLst>
              <a:gd name="adj" fmla="val 5862"/>
            </a:avLst>
          </a:prstGeom>
          <a:solidFill>
            <a:srgbClr val="FDF6EA"/>
          </a:solidFill>
          <a:ln w="9525">
            <a:solidFill>
              <a:srgbClr val="C9CFCB"/>
            </a:solidFill>
            <a:prstDash val="solid"/>
          </a:ln>
        </p:spPr>
        <p:txBody>
          <a:bodyPr/>
          <a:lstStyle/>
          <a:p>
            <a:endParaRPr lang="en-US"/>
          </a:p>
        </p:txBody>
      </p:sp>
      <p:sp>
        <p:nvSpPr>
          <p:cNvPr id="13" name="Text 11"/>
          <p:cNvSpPr/>
          <p:nvPr/>
        </p:nvSpPr>
        <p:spPr>
          <a:xfrm>
            <a:off x="8075981" y="2654503"/>
            <a:ext cx="3009290" cy="292608"/>
          </a:xfrm>
          <a:prstGeom prst="rect">
            <a:avLst/>
          </a:prstGeom>
          <a:noFill/>
          <a:ln/>
        </p:spPr>
        <p:txBody>
          <a:bodyPr wrap="square" rtlCol="0" anchor="ctr"/>
          <a:lstStyle/>
          <a:p>
            <a:pPr marL="0" indent="0">
              <a:buNone/>
            </a:pPr>
            <a:r>
              <a:rPr lang="en-US" sz="1500" b="1" dirty="0">
                <a:solidFill>
                  <a:srgbClr val="000000"/>
                </a:solidFill>
                <a:latin typeface="+mj-lt" pitchFamily="34" charset="0"/>
                <a:ea typeface="+mj-lt" pitchFamily="34" charset="-122"/>
                <a:cs typeface="+mj-lt" pitchFamily="34" charset="-120"/>
              </a:rPr>
              <a:t>1 bài viết</a:t>
            </a:r>
            <a:endParaRPr lang="en-US" sz="1500" dirty="0"/>
          </a:p>
        </p:txBody>
      </p:sp>
      <p:sp>
        <p:nvSpPr>
          <p:cNvPr id="14" name="Text 12"/>
          <p:cNvSpPr/>
          <p:nvPr/>
        </p:nvSpPr>
        <p:spPr>
          <a:xfrm>
            <a:off x="8075981" y="2965399"/>
            <a:ext cx="3009290" cy="405536"/>
          </a:xfrm>
          <a:prstGeom prst="rect">
            <a:avLst/>
          </a:prstGeom>
          <a:noFill/>
          <a:ln/>
        </p:spPr>
        <p:txBody>
          <a:bodyPr wrap="square" rtlCol="0" anchor="t">
            <a:normAutofit/>
          </a:bodyPr>
          <a:lstStyle/>
          <a:p>
            <a:pPr marL="0" indent="0">
              <a:buNone/>
            </a:pPr>
            <a:r>
              <a:rPr lang="en-US" sz="1150" dirty="0">
                <a:solidFill>
                  <a:srgbClr val="6E7C75"/>
                </a:solidFill>
                <a:latin typeface="+mn-lt" pitchFamily="34" charset="0"/>
                <a:ea typeface="+mn-lt" pitchFamily="34" charset="-122"/>
                <a:cs typeface="+mn-lt" pitchFamily="34" charset="-120"/>
              </a:rPr>
              <a:t>= 1 document</a:t>
            </a:r>
            <a:endParaRPr lang="en-US" sz="1150" dirty="0"/>
          </a:p>
        </p:txBody>
      </p:sp>
      <p:sp>
        <p:nvSpPr>
          <p:cNvPr id="15" name="Shape 13"/>
          <p:cNvSpPr/>
          <p:nvPr/>
        </p:nvSpPr>
        <p:spPr>
          <a:xfrm>
            <a:off x="905256" y="3873551"/>
            <a:ext cx="82296" cy="82296"/>
          </a:xfrm>
          <a:prstGeom prst="ellipse">
            <a:avLst/>
          </a:prstGeom>
          <a:solidFill>
            <a:srgbClr val="000000"/>
          </a:solidFill>
          <a:ln/>
        </p:spPr>
        <p:txBody>
          <a:bodyPr/>
          <a:lstStyle/>
          <a:p>
            <a:endParaRPr lang="en-US"/>
          </a:p>
        </p:txBody>
      </p:sp>
      <p:sp>
        <p:nvSpPr>
          <p:cNvPr id="16" name="Text 14"/>
          <p:cNvSpPr/>
          <p:nvPr/>
        </p:nvSpPr>
        <p:spPr>
          <a:xfrm>
            <a:off x="1179576" y="3643427"/>
            <a:ext cx="10143439" cy="542544"/>
          </a:xfrm>
          <a:prstGeom prst="rect">
            <a:avLst/>
          </a:prstGeom>
          <a:noFill/>
          <a:ln/>
        </p:spPr>
        <p:txBody>
          <a:bodyPr wrap="square" rtlCol="0" anchor="ctr">
            <a:normAutofit/>
          </a:bodyPr>
          <a:lstStyle/>
          <a:p>
            <a:pPr marL="0" indent="0">
              <a:buNone/>
            </a:pPr>
            <a:r>
              <a:rPr lang="en-US" dirty="0">
                <a:latin typeface="Times New Roman" panose="02020603050405020304" pitchFamily="18" charset="0"/>
                <a:cs typeface="Times New Roman" panose="02020603050405020304" pitchFamily="18" charset="0"/>
              </a:rPr>
              <a:t>Lưu nguyên vẹn, lấy ra một lần là đủ — không cần JOIN</a:t>
            </a:r>
          </a:p>
        </p:txBody>
      </p:sp>
      <p:sp>
        <p:nvSpPr>
          <p:cNvPr id="17" name="Shape 15"/>
          <p:cNvSpPr/>
          <p:nvPr/>
        </p:nvSpPr>
        <p:spPr>
          <a:xfrm>
            <a:off x="905256" y="4416095"/>
            <a:ext cx="82296" cy="82296"/>
          </a:xfrm>
          <a:prstGeom prst="ellipse">
            <a:avLst/>
          </a:prstGeom>
          <a:solidFill>
            <a:srgbClr val="000000"/>
          </a:solidFill>
          <a:ln/>
        </p:spPr>
        <p:txBody>
          <a:bodyPr/>
          <a:lstStyle/>
          <a:p>
            <a:endParaRPr lang="en-US"/>
          </a:p>
        </p:txBody>
      </p:sp>
      <p:sp>
        <p:nvSpPr>
          <p:cNvPr id="18" name="Text 16"/>
          <p:cNvSpPr/>
          <p:nvPr/>
        </p:nvSpPr>
        <p:spPr>
          <a:xfrm>
            <a:off x="1179576" y="4185971"/>
            <a:ext cx="10143439" cy="542544"/>
          </a:xfrm>
          <a:prstGeom prst="rect">
            <a:avLst/>
          </a:prstGeom>
          <a:noFill/>
          <a:ln/>
        </p:spPr>
        <p:txBody>
          <a:bodyPr wrap="square" rtlCol="0" anchor="ctr">
            <a:normAutofit/>
          </a:bodyPr>
          <a:lstStyle/>
          <a:p>
            <a:pPr marL="0" indent="0">
              <a:buNone/>
            </a:pPr>
            <a:r>
              <a:rPr lang="en-US" dirty="0">
                <a:latin typeface="Times New Roman" panose="02020603050405020304" pitchFamily="18" charset="0"/>
                <a:cs typeface="Times New Roman" panose="02020603050405020304" pitchFamily="18" charset="0"/>
              </a:rPr>
              <a:t>Thêm trường mới không cần đổi cấu trúc</a:t>
            </a:r>
          </a:p>
        </p:txBody>
      </p:sp>
      <p:sp>
        <p:nvSpPr>
          <p:cNvPr id="19" name="Shape 17"/>
          <p:cNvSpPr/>
          <p:nvPr/>
        </p:nvSpPr>
        <p:spPr>
          <a:xfrm>
            <a:off x="905256" y="4958639"/>
            <a:ext cx="82296" cy="82296"/>
          </a:xfrm>
          <a:prstGeom prst="ellipse">
            <a:avLst/>
          </a:prstGeom>
          <a:solidFill>
            <a:srgbClr val="000000"/>
          </a:solidFill>
          <a:ln/>
        </p:spPr>
        <p:txBody>
          <a:bodyPr/>
          <a:lstStyle/>
          <a:p>
            <a:endParaRPr lang="en-US"/>
          </a:p>
        </p:txBody>
      </p:sp>
      <p:sp>
        <p:nvSpPr>
          <p:cNvPr id="20" name="Text 18"/>
          <p:cNvSpPr/>
          <p:nvPr/>
        </p:nvSpPr>
        <p:spPr>
          <a:xfrm>
            <a:off x="1179576" y="4728515"/>
            <a:ext cx="10143439" cy="542544"/>
          </a:xfrm>
          <a:prstGeom prst="rect">
            <a:avLst/>
          </a:prstGeom>
          <a:noFill/>
          <a:ln/>
        </p:spPr>
        <p:txBody>
          <a:bodyPr wrap="square" rtlCol="0" anchor="ctr">
            <a:normAutofit/>
          </a:bodyPr>
          <a:lstStyle/>
          <a:p>
            <a:pPr marL="0" indent="0">
              <a:buNone/>
            </a:pPr>
            <a:r>
              <a:rPr lang="en-US" dirty="0">
                <a:latin typeface="Times New Roman" panose="02020603050405020304" pitchFamily="18" charset="0"/>
                <a:cs typeface="Times New Roman" panose="02020603050405020304" pitchFamily="18" charset="0"/>
              </a:rPr>
              <a:t>Vẫn viết được câu lệnh giống SQL — gọi là N1QL</a:t>
            </a:r>
          </a:p>
        </p:txBody>
      </p:sp>
      <p:sp>
        <p:nvSpPr>
          <p:cNvPr id="21" name="Shape 19"/>
          <p:cNvSpPr/>
          <p:nvPr/>
        </p:nvSpPr>
        <p:spPr>
          <a:xfrm>
            <a:off x="868680" y="5961888"/>
            <a:ext cx="10454335" cy="7315"/>
          </a:xfrm>
          <a:prstGeom prst="rect">
            <a:avLst/>
          </a:prstGeom>
          <a:solidFill>
            <a:srgbClr val="C9CFCB"/>
          </a:solidFill>
          <a:ln/>
        </p:spPr>
        <p:txBody>
          <a:bodyPr/>
          <a:lstStyle/>
          <a:p>
            <a:endParaRPr lang="en-US"/>
          </a:p>
        </p:txBody>
      </p:sp>
      <p:sp>
        <p:nvSpPr>
          <p:cNvPr id="22" name="Text 20"/>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3 · Couchbase</a:t>
            </a:r>
            <a:endParaRPr lang="en-US" sz="900" dirty="0"/>
          </a:p>
        </p:txBody>
      </p:sp>
      <p:sp>
        <p:nvSpPr>
          <p:cNvPr id="23" name="Text 21"/>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3 · COUCHBASE   ·   LÝ DO LỰA CHỌN</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Vì sao nhóm em chọn Couchbase?</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10" name="Table 0"/>
          <p:cNvGraphicFramePr>
            <a:graphicFrameLocks noGrp="1"/>
          </p:cNvGraphicFramePr>
          <p:nvPr>
            <p:extLst>
              <p:ext uri="{D42A27DB-BD31-4B8C-83A1-F6EECF244321}">
                <p14:modId xmlns:p14="http://schemas.microsoft.com/office/powerpoint/2010/main" val="787804941"/>
              </p:ext>
            </p:extLst>
          </p:nvPr>
        </p:nvGraphicFramePr>
        <p:xfrm>
          <a:off x="868680" y="1975104"/>
          <a:ext cx="10454334" cy="2563521"/>
        </p:xfrm>
        <a:graphic>
          <a:graphicData uri="http://schemas.openxmlformats.org/drawingml/2006/table">
            <a:tbl>
              <a:tblPr/>
              <a:tblGrid>
                <a:gridCol w="2324576">
                  <a:extLst>
                    <a:ext uri="{9D8B030D-6E8A-4147-A177-3AD203B41FA5}">
                      <a16:colId xmlns:a16="http://schemas.microsoft.com/office/drawing/2014/main" val="20000"/>
                    </a:ext>
                  </a:extLst>
                </a:gridCol>
                <a:gridCol w="2574915">
                  <a:extLst>
                    <a:ext uri="{9D8B030D-6E8A-4147-A177-3AD203B41FA5}">
                      <a16:colId xmlns:a16="http://schemas.microsoft.com/office/drawing/2014/main" val="20001"/>
                    </a:ext>
                  </a:extLst>
                </a:gridCol>
                <a:gridCol w="2217288">
                  <a:extLst>
                    <a:ext uri="{9D8B030D-6E8A-4147-A177-3AD203B41FA5}">
                      <a16:colId xmlns:a16="http://schemas.microsoft.com/office/drawing/2014/main" val="20002"/>
                    </a:ext>
                  </a:extLst>
                </a:gridCol>
                <a:gridCol w="3337555">
                  <a:extLst>
                    <a:ext uri="{9D8B030D-6E8A-4147-A177-3AD203B41FA5}">
                      <a16:colId xmlns:a16="http://schemas.microsoft.com/office/drawing/2014/main" val="20003"/>
                    </a:ext>
                  </a:extLst>
                </a:gridCol>
              </a:tblGrid>
              <a:tr h="325526">
                <a:tc>
                  <a:txBody>
                    <a:bodyPr/>
                    <a:lstStyle/>
                    <a:p>
                      <a:pPr marL="0" indent="0">
                        <a:buNone/>
                      </a:pP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MYSQL / SQL SERVER</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MONGODB</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COUCHBASE</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447599">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Kiểu lưu dữ liệu</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Bảng và dòng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Document JSON</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Document JSON</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7599">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Dữ liệu lồng nhau</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Phải tách bảng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Lưu được</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Lưu được</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7599">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Ngôn ngữ truy vấn</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SQL</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Cú pháp riêng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SQL — học 1 lần dùng cả hai</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7599">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Bộ nhớ đệm</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Thường thêm Redis</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Thường thêm Redis</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Có sẵn bên trong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7599">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Lấy dữ liệu theo khoá</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Phải tra index</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Phải tra index</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Lấy thẳng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868680" y="4701388"/>
            <a:ext cx="10454335" cy="773125"/>
          </a:xfrm>
          <a:prstGeom prst="roundRect">
            <a:avLst>
              <a:gd name="adj" fmla="val 7096"/>
            </a:avLst>
          </a:prstGeom>
          <a:solidFill>
            <a:srgbClr val="C9E2D6"/>
          </a:solidFill>
          <a:ln/>
        </p:spPr>
        <p:txBody>
          <a:bodyPr/>
          <a:lstStyle/>
          <a:p>
            <a:endParaRPr lang="en-US"/>
          </a:p>
        </p:txBody>
      </p:sp>
      <p:sp>
        <p:nvSpPr>
          <p:cNvPr id="7" name="Text 4"/>
          <p:cNvSpPr/>
          <p:nvPr/>
        </p:nvSpPr>
        <p:spPr>
          <a:xfrm>
            <a:off x="1143000" y="4747108"/>
            <a:ext cx="9905695" cy="681685"/>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Lý do quyết định: Couchbase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vừa lưu được dữ liệu lồng nhau như MongoDB</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vừa giữ được SQL đã học</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a:t>
            </a:r>
            <a:endParaRPr lang="en-US" sz="1450" dirty="0">
              <a:latin typeface="Times New Roman" panose="02020603050405020304" pitchFamily="18" charset="0"/>
              <a:cs typeface="Times New Roman" panose="02020603050405020304" pitchFamily="18" charset="0"/>
            </a:endParaRPr>
          </a:p>
        </p:txBody>
      </p:sp>
      <p:sp>
        <p:nvSpPr>
          <p:cNvPr id="8" name="Shape 5"/>
          <p:cNvSpPr/>
          <p:nvPr/>
        </p:nvSpPr>
        <p:spPr>
          <a:xfrm>
            <a:off x="868680" y="5961888"/>
            <a:ext cx="10454335" cy="7315"/>
          </a:xfrm>
          <a:prstGeom prst="rect">
            <a:avLst/>
          </a:prstGeom>
          <a:solidFill>
            <a:srgbClr val="C9CFCB"/>
          </a:solidFill>
          <a:ln/>
        </p:spPr>
        <p:txBody>
          <a:bodyPr/>
          <a:lstStyle/>
          <a:p>
            <a:endParaRPr lang="en-US"/>
          </a:p>
        </p:txBody>
      </p:sp>
      <p:sp>
        <p:nvSpPr>
          <p:cNvPr id="9" name="Text 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3 · Couchbase</a:t>
            </a:r>
            <a:endParaRPr lang="en-US" sz="900" dirty="0"/>
          </a:p>
        </p:txBody>
      </p:sp>
      <p:sp>
        <p:nvSpPr>
          <p:cNvPr id="5" name="Text 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3 · COUCHBASE   ·   ĐỐI CHIẾU</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Thuật ngữ mới, khái niệm cũ</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3287044458"/>
              </p:ext>
            </p:extLst>
          </p:nvPr>
        </p:nvGraphicFramePr>
        <p:xfrm>
          <a:off x="868680" y="1975104"/>
          <a:ext cx="10454336" cy="2726281"/>
        </p:xfrm>
        <a:graphic>
          <a:graphicData uri="http://schemas.openxmlformats.org/drawingml/2006/table">
            <a:tbl>
              <a:tblPr/>
              <a:tblGrid>
                <a:gridCol w="5226721">
                  <a:extLst>
                    <a:ext uri="{9D8B030D-6E8A-4147-A177-3AD203B41FA5}">
                      <a16:colId xmlns:a16="http://schemas.microsoft.com/office/drawing/2014/main" val="20000"/>
                    </a:ext>
                  </a:extLst>
                </a:gridCol>
                <a:gridCol w="5227615">
                  <a:extLst>
                    <a:ext uri="{9D8B030D-6E8A-4147-A177-3AD203B41FA5}">
                      <a16:colId xmlns:a16="http://schemas.microsoft.com/office/drawing/2014/main" val="20001"/>
                    </a:ext>
                  </a:extLst>
                </a:gridCol>
              </a:tblGrid>
              <a:tr h="325526">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CƠ SỞ DỮ LIỆU QUAN HỆ</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COUCHBASE</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Database</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Bucket</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Table — bảng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Collection</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Row — dòng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Document</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Column — cột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Field — trường</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Primary key</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Document key</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Index</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Index — giống nhau</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2965">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Foreign key</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  Không có</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868680" y="4864151"/>
            <a:ext cx="10454335" cy="773125"/>
          </a:xfrm>
          <a:prstGeom prst="roundRect">
            <a:avLst>
              <a:gd name="adj" fmla="val 7096"/>
            </a:avLst>
          </a:prstGeom>
          <a:solidFill>
            <a:srgbClr val="DBE7F5"/>
          </a:solidFill>
          <a:ln/>
        </p:spPr>
        <p:txBody>
          <a:bodyPr/>
          <a:lstStyle/>
          <a:p>
            <a:endParaRPr lang="en-US"/>
          </a:p>
        </p:txBody>
      </p:sp>
      <p:sp>
        <p:nvSpPr>
          <p:cNvPr id="7" name="Text 4"/>
          <p:cNvSpPr/>
          <p:nvPr/>
        </p:nvSpPr>
        <p:spPr>
          <a:xfrm>
            <a:off x="1143000" y="4909871"/>
            <a:ext cx="9905695" cy="681685"/>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Không có khoá ngoại → cơ sở dữ liệu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không tự kiểm tra</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ràng buộc tham chiếu. Việc đó do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code ứng dụng</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đảm nhiệm.</a:t>
            </a:r>
            <a:endParaRPr lang="en-US" sz="1450" dirty="0">
              <a:latin typeface="Times New Roman" panose="02020603050405020304" pitchFamily="18" charset="0"/>
              <a:cs typeface="Times New Roman" panose="02020603050405020304" pitchFamily="18" charset="0"/>
            </a:endParaRPr>
          </a:p>
        </p:txBody>
      </p:sp>
      <p:sp>
        <p:nvSpPr>
          <p:cNvPr id="8" name="Shape 5"/>
          <p:cNvSpPr/>
          <p:nvPr/>
        </p:nvSpPr>
        <p:spPr>
          <a:xfrm>
            <a:off x="868680" y="5961888"/>
            <a:ext cx="10454335" cy="7315"/>
          </a:xfrm>
          <a:prstGeom prst="rect">
            <a:avLst/>
          </a:prstGeom>
          <a:solidFill>
            <a:srgbClr val="C9CFCB"/>
          </a:solidFill>
          <a:ln/>
        </p:spPr>
        <p:txBody>
          <a:bodyPr/>
          <a:lstStyle/>
          <a:p>
            <a:endParaRPr lang="en-US"/>
          </a:p>
        </p:txBody>
      </p:sp>
      <p:sp>
        <p:nvSpPr>
          <p:cNvPr id="9" name="Text 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3 · Couchbase</a:t>
            </a:r>
            <a:endParaRPr lang="en-US" sz="900" dirty="0"/>
          </a:p>
        </p:txBody>
      </p:sp>
      <p:sp>
        <p:nvSpPr>
          <p:cNvPr id="10" name="Text 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4 · MÔ HÌNH DỮ LIỆU   ·   TỔ CHỨC</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4 bucket, 5 loại dữ liệu</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2373965793"/>
              </p:ext>
            </p:extLst>
          </p:nvPr>
        </p:nvGraphicFramePr>
        <p:xfrm>
          <a:off x="868680" y="1975104"/>
          <a:ext cx="10454335" cy="1871778"/>
        </p:xfrm>
        <a:graphic>
          <a:graphicData uri="http://schemas.openxmlformats.org/drawingml/2006/table">
            <a:tbl>
              <a:tblPr/>
              <a:tblGrid>
                <a:gridCol w="3933898">
                  <a:extLst>
                    <a:ext uri="{9D8B030D-6E8A-4147-A177-3AD203B41FA5}">
                      <a16:colId xmlns:a16="http://schemas.microsoft.com/office/drawing/2014/main" val="20000"/>
                    </a:ext>
                  </a:extLst>
                </a:gridCol>
                <a:gridCol w="6520437">
                  <a:extLst>
                    <a:ext uri="{9D8B030D-6E8A-4147-A177-3AD203B41FA5}">
                      <a16:colId xmlns:a16="http://schemas.microsoft.com/office/drawing/2014/main" val="20001"/>
                    </a:ext>
                  </a:extLst>
                </a:gridCol>
              </a:tblGrid>
              <a:tr h="325526">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BUCKET</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CHỨA GÌ</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386563">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travel_users</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Người dùng</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6563">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travel_content</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Bài viết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6563">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travel_trips</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Chuyến đi  +  Điểm đến — 2 loại</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6563">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travel_social</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Quan hệ theo dõi</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868680" y="4009644"/>
            <a:ext cx="10454335" cy="1098652"/>
          </a:xfrm>
          <a:prstGeom prst="roundRect">
            <a:avLst>
              <a:gd name="adj" fmla="val 4994"/>
            </a:avLst>
          </a:prstGeom>
          <a:solidFill>
            <a:srgbClr val="C9E2D6"/>
          </a:solidFill>
          <a:ln/>
        </p:spPr>
        <p:txBody>
          <a:bodyPr/>
          <a:lstStyle/>
          <a:p>
            <a:endParaRPr lang="en-US"/>
          </a:p>
        </p:txBody>
      </p:sp>
      <p:sp>
        <p:nvSpPr>
          <p:cNvPr id="7" name="Text 4"/>
          <p:cNvSpPr/>
          <p:nvPr/>
        </p:nvSpPr>
        <p:spPr>
          <a:xfrm>
            <a:off x="1143000" y="4055364"/>
            <a:ext cx="9905695" cy="1007212"/>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Vì không có “bảng” để phân biệt, mỗi document mang một trường </a:t>
            </a:r>
            <a:r>
              <a:rPr lang="en-US" sz="1300" dirty="0">
                <a:solidFill>
                  <a:srgbClr val="2C3932"/>
                </a:solidFill>
                <a:latin typeface="Times New Roman" panose="02020603050405020304" pitchFamily="18" charset="0"/>
                <a:ea typeface="Consolas" pitchFamily="34" charset="-122"/>
                <a:cs typeface="Times New Roman" panose="02020603050405020304" pitchFamily="18" charset="0"/>
              </a:rPr>
              <a:t>type</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để tự khai báo mình là loại gì:
</a:t>
            </a:r>
            <a:r>
              <a:rPr lang="en-US" sz="1300" dirty="0">
                <a:solidFill>
                  <a:srgbClr val="2C3932"/>
                </a:solidFill>
                <a:latin typeface="Times New Roman" panose="02020603050405020304" pitchFamily="18" charset="0"/>
                <a:ea typeface="Consolas" pitchFamily="34" charset="-122"/>
                <a:cs typeface="Times New Roman" panose="02020603050405020304" pitchFamily="18" charset="0"/>
              </a:rPr>
              <a:t>"type": "trip"</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hoặc   </a:t>
            </a:r>
            <a:r>
              <a:rPr lang="en-US" sz="1300" dirty="0">
                <a:solidFill>
                  <a:srgbClr val="2C3932"/>
                </a:solidFill>
                <a:latin typeface="Times New Roman" panose="02020603050405020304" pitchFamily="18" charset="0"/>
                <a:ea typeface="Consolas" pitchFamily="34" charset="-122"/>
                <a:cs typeface="Times New Roman" panose="02020603050405020304" pitchFamily="18" charset="0"/>
              </a:rPr>
              <a:t>"type": "destination"</a:t>
            </a:r>
            <a:endParaRPr lang="en-US" sz="1450" dirty="0">
              <a:latin typeface="Times New Roman" panose="02020603050405020304" pitchFamily="18" charset="0"/>
              <a:cs typeface="Times New Roman" panose="02020603050405020304" pitchFamily="18" charset="0"/>
            </a:endParaRPr>
          </a:p>
        </p:txBody>
      </p:sp>
      <p:sp>
        <p:nvSpPr>
          <p:cNvPr id="8" name="Shape 5"/>
          <p:cNvSpPr/>
          <p:nvPr/>
        </p:nvSpPr>
        <p:spPr>
          <a:xfrm>
            <a:off x="868680" y="5961888"/>
            <a:ext cx="10454335" cy="7315"/>
          </a:xfrm>
          <a:prstGeom prst="rect">
            <a:avLst/>
          </a:prstGeom>
          <a:solidFill>
            <a:srgbClr val="C9CFCB"/>
          </a:solidFill>
          <a:ln/>
        </p:spPr>
        <p:txBody>
          <a:bodyPr/>
          <a:lstStyle/>
          <a:p>
            <a:endParaRPr lang="en-US"/>
          </a:p>
        </p:txBody>
      </p:sp>
      <p:sp>
        <p:nvSpPr>
          <p:cNvPr id="9" name="Text 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4 · Mô hình dữ liệu</a:t>
            </a:r>
            <a:endParaRPr lang="en-US" sz="900" dirty="0"/>
          </a:p>
        </p:txBody>
      </p:sp>
      <p:sp>
        <p:nvSpPr>
          <p:cNvPr id="10" name="Text 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4 · MÔ HÌNH DỮ LIỆU   ·   VÍ DỤ THẬT</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Một document người dùng</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10454335" cy="2848356"/>
          </a:xfrm>
          <a:prstGeom prst="roundRect">
            <a:avLst>
              <a:gd name="adj" fmla="val 1605"/>
            </a:avLst>
          </a:prstGeom>
          <a:solidFill>
            <a:srgbClr val="2C3932"/>
          </a:solidFill>
          <a:ln/>
        </p:spPr>
        <p:txBody>
          <a:bodyPr/>
          <a:lstStyle/>
          <a:p>
            <a:endParaRPr lang="en-US"/>
          </a:p>
        </p:txBody>
      </p:sp>
      <p:sp>
        <p:nvSpPr>
          <p:cNvPr id="6" name="Text 4"/>
          <p:cNvSpPr/>
          <p:nvPr/>
        </p:nvSpPr>
        <p:spPr>
          <a:xfrm>
            <a:off x="1124712" y="2029968"/>
            <a:ext cx="9942271" cy="256032"/>
          </a:xfrm>
          <a:prstGeom prst="rect">
            <a:avLst/>
          </a:prstGeom>
          <a:noFill/>
          <a:ln/>
        </p:spPr>
        <p:txBody>
          <a:bodyPr wrap="square" rtlCol="0" anchor="ctr"/>
          <a:lstStyle/>
          <a:p>
            <a:pPr marL="0" indent="0">
              <a:buNone/>
            </a:pPr>
            <a:r>
              <a:rPr lang="en-US" sz="900" kern="0" spc="100" dirty="0">
                <a:solidFill>
                  <a:srgbClr val="9DACA4"/>
                </a:solidFill>
                <a:latin typeface="+mn-lt" pitchFamily="34" charset="0"/>
                <a:ea typeface="+mn-lt" pitchFamily="34" charset="-122"/>
                <a:cs typeface="+mn-lt" pitchFamily="34" charset="-120"/>
              </a:rPr>
              <a:t>BUCKET TRAVEL_USERS</a:t>
            </a:r>
            <a:endParaRPr lang="en-US" sz="900" dirty="0"/>
          </a:p>
        </p:txBody>
      </p:sp>
      <p:sp>
        <p:nvSpPr>
          <p:cNvPr id="7" name="Shape 5"/>
          <p:cNvSpPr/>
          <p:nvPr/>
        </p:nvSpPr>
        <p:spPr>
          <a:xfrm>
            <a:off x="1124712" y="2304288"/>
            <a:ext cx="9942271" cy="7315"/>
          </a:xfrm>
          <a:prstGeom prst="rect">
            <a:avLst/>
          </a:prstGeom>
          <a:solidFill>
            <a:srgbClr val="46554D"/>
          </a:solidFill>
          <a:ln/>
        </p:spPr>
        <p:txBody>
          <a:bodyPr/>
          <a:lstStyle/>
          <a:p>
            <a:endParaRPr lang="en-US"/>
          </a:p>
        </p:txBody>
      </p:sp>
      <p:sp>
        <p:nvSpPr>
          <p:cNvPr id="8" name="Text 6"/>
          <p:cNvSpPr/>
          <p:nvPr/>
        </p:nvSpPr>
        <p:spPr>
          <a:xfrm>
            <a:off x="1143000" y="2432304"/>
            <a:ext cx="9905695" cy="2263140"/>
          </a:xfrm>
          <a:prstGeom prst="rect">
            <a:avLst/>
          </a:prstGeom>
          <a:noFill/>
          <a:ln/>
        </p:spPr>
        <p:txBody>
          <a:bodyPr wrap="square" rtlCol="0" anchor="t">
            <a:normAutofit fontScale="92500" lnSpcReduction="10000"/>
          </a:bodyPr>
          <a:lstStyle/>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"type":</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"user"</a:t>
            </a: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"username":</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"an_travels"</a:t>
            </a: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"email":</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"an@example.com"</a:t>
            </a: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"profile":</a:t>
            </a: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"firstName":</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"An"</a:t>
            </a: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"location":</a:t>
            </a:r>
            <a:r>
              <a:rPr lang="en-US" sz="1250" dirty="0">
                <a:solidFill>
                  <a:srgbClr val="FDF6EA"/>
                </a:solidFill>
                <a:latin typeface="Consolas" pitchFamily="34" charset="0"/>
                <a:ea typeface="Consolas" pitchFamily="34" charset="-122"/>
                <a:cs typeface="Consolas" pitchFamily="34" charset="-120"/>
              </a:rPr>
              <a:t> { </a:t>
            </a:r>
            <a:r>
              <a:rPr lang="en-US" sz="1250" dirty="0">
                <a:solidFill>
                  <a:srgbClr val="DBE7F5"/>
                </a:solidFill>
                <a:latin typeface="Consolas" pitchFamily="34" charset="0"/>
                <a:ea typeface="Consolas" pitchFamily="34" charset="-122"/>
                <a:cs typeface="Consolas" pitchFamily="34" charset="-120"/>
              </a:rPr>
              <a:t>"city":</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"Đà Nẵng"</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"country":</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"Việt Nam"</a:t>
            </a: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"interests":</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"hiking"</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"photography"</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C9E2D6"/>
                </a:solidFill>
                <a:latin typeface="Consolas" pitchFamily="34" charset="0"/>
                <a:ea typeface="Consolas" pitchFamily="34" charset="-122"/>
                <a:cs typeface="Consolas" pitchFamily="34" charset="-120"/>
              </a:rPr>
              <a:t>"food"</a:t>
            </a:r>
            <a:r>
              <a:rPr lang="en-US" sz="1250" dirty="0">
                <a:solidFill>
                  <a:srgbClr val="FDF6EA"/>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"stats":</a:t>
            </a:r>
            <a:r>
              <a:rPr lang="en-US" sz="1250" dirty="0">
                <a:solidFill>
                  <a:srgbClr val="FDF6EA"/>
                </a:solidFill>
                <a:latin typeface="Consolas" pitchFamily="34" charset="0"/>
                <a:ea typeface="Consolas" pitchFamily="34" charset="-122"/>
                <a:cs typeface="Consolas" pitchFamily="34" charset="-120"/>
              </a:rPr>
              <a:t> { </a:t>
            </a:r>
            <a:r>
              <a:rPr lang="en-US" sz="1250" dirty="0">
                <a:solidFill>
                  <a:srgbClr val="DBE7F5"/>
                </a:solidFill>
                <a:latin typeface="Consolas" pitchFamily="34" charset="0"/>
                <a:ea typeface="Consolas" pitchFamily="34" charset="-122"/>
                <a:cs typeface="Consolas" pitchFamily="34" charset="-120"/>
              </a:rPr>
              <a:t>"postCount":</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3E49A"/>
                </a:solidFill>
                <a:latin typeface="Consolas" pitchFamily="34" charset="0"/>
                <a:ea typeface="Consolas" pitchFamily="34" charset="-122"/>
                <a:cs typeface="Consolas" pitchFamily="34" charset="-120"/>
              </a:rPr>
              <a:t>27</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DBE7F5"/>
                </a:solidFill>
                <a:latin typeface="Consolas" pitchFamily="34" charset="0"/>
                <a:ea typeface="Consolas" pitchFamily="34" charset="-122"/>
                <a:cs typeface="Consolas" pitchFamily="34" charset="-120"/>
              </a:rPr>
              <a:t>"followerCount":</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3E49A"/>
                </a:solidFill>
                <a:latin typeface="Consolas" pitchFamily="34" charset="0"/>
                <a:ea typeface="Consolas" pitchFamily="34" charset="-122"/>
                <a:cs typeface="Consolas" pitchFamily="34" charset="-120"/>
              </a:rPr>
              <a:t>152</a:t>
            </a: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a:t>
            </a:r>
            <a:endParaRPr lang="en-US" sz="1250" dirty="0"/>
          </a:p>
        </p:txBody>
      </p:sp>
      <p:sp>
        <p:nvSpPr>
          <p:cNvPr id="9" name="Shape 7"/>
          <p:cNvSpPr/>
          <p:nvPr/>
        </p:nvSpPr>
        <p:spPr>
          <a:xfrm>
            <a:off x="868680" y="4986223"/>
            <a:ext cx="10454335" cy="651053"/>
          </a:xfrm>
          <a:prstGeom prst="roundRect">
            <a:avLst>
              <a:gd name="adj" fmla="val 8427"/>
            </a:avLst>
          </a:prstGeom>
          <a:solidFill>
            <a:srgbClr val="DBE7F5"/>
          </a:solidFill>
          <a:ln/>
        </p:spPr>
        <p:txBody>
          <a:bodyPr/>
          <a:lstStyle/>
          <a:p>
            <a:endParaRPr lang="en-US"/>
          </a:p>
        </p:txBody>
      </p:sp>
      <p:sp>
        <p:nvSpPr>
          <p:cNvPr id="10" name="Text 8"/>
          <p:cNvSpPr/>
          <p:nvPr/>
        </p:nvSpPr>
        <p:spPr>
          <a:xfrm>
            <a:off x="1143000" y="5031943"/>
            <a:ext cx="9905695" cy="559613"/>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Trong SQL cần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5 bảng</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 ở đây là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1 document</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hệ thống lấy về bằng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1 lần đọc</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a:t>
            </a:r>
            <a:endParaRPr lang="en-US" sz="1450" dirty="0">
              <a:latin typeface="Times New Roman" panose="02020603050405020304" pitchFamily="18" charset="0"/>
              <a:cs typeface="Times New Roman" panose="02020603050405020304" pitchFamily="18" charset="0"/>
            </a:endParaRPr>
          </a:p>
        </p:txBody>
      </p:sp>
      <p:sp>
        <p:nvSpPr>
          <p:cNvPr id="11" name="Shape 9"/>
          <p:cNvSpPr/>
          <p:nvPr/>
        </p:nvSpPr>
        <p:spPr>
          <a:xfrm>
            <a:off x="868680" y="5961888"/>
            <a:ext cx="10454335" cy="7315"/>
          </a:xfrm>
          <a:prstGeom prst="rect">
            <a:avLst/>
          </a:prstGeom>
          <a:solidFill>
            <a:srgbClr val="C9CFCB"/>
          </a:solidFill>
          <a:ln/>
        </p:spPr>
        <p:txBody>
          <a:bodyPr/>
          <a:lstStyle/>
          <a:p>
            <a:endParaRPr lang="en-US"/>
          </a:p>
        </p:txBody>
      </p:sp>
      <p:sp>
        <p:nvSpPr>
          <p:cNvPr id="12" name="Text 10"/>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4 · Mô hình dữ liệu</a:t>
            </a:r>
            <a:endParaRPr lang="en-US" sz="900" dirty="0"/>
          </a:p>
        </p:txBody>
      </p:sp>
      <p:sp>
        <p:nvSpPr>
          <p:cNvPr id="13" name="Text 11"/>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4 · MÔ HÌNH DỮ LIỆU   ·   KHOÁ</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Mỗi document có một khoá — do nhóm em tự đặt tên</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14" name="Table 0"/>
          <p:cNvGraphicFramePr>
            <a:graphicFrameLocks noGrp="1"/>
          </p:cNvGraphicFramePr>
          <p:nvPr>
            <p:extLst>
              <p:ext uri="{D42A27DB-BD31-4B8C-83A1-F6EECF244321}">
                <p14:modId xmlns:p14="http://schemas.microsoft.com/office/powerpoint/2010/main" val="1804590725"/>
              </p:ext>
            </p:extLst>
          </p:nvPr>
        </p:nvGraphicFramePr>
        <p:xfrm>
          <a:off x="2193277" y="1796719"/>
          <a:ext cx="6705509" cy="2007414"/>
        </p:xfrm>
        <a:graphic>
          <a:graphicData uri="http://schemas.openxmlformats.org/drawingml/2006/table">
            <a:tbl>
              <a:tblPr/>
              <a:tblGrid>
                <a:gridCol w="2592797">
                  <a:extLst>
                    <a:ext uri="{9D8B030D-6E8A-4147-A177-3AD203B41FA5}">
                      <a16:colId xmlns:a16="http://schemas.microsoft.com/office/drawing/2014/main" val="20000"/>
                    </a:ext>
                  </a:extLst>
                </a:gridCol>
                <a:gridCol w="4112712">
                  <a:extLst>
                    <a:ext uri="{9D8B030D-6E8A-4147-A177-3AD203B41FA5}">
                      <a16:colId xmlns:a16="http://schemas.microsoft.com/office/drawing/2014/main" val="20001"/>
                    </a:ext>
                  </a:extLst>
                </a:gridCol>
              </a:tblGrid>
              <a:tr h="325526">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LOẠI</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MẪU KHOÁ</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420472">
                <a:tc>
                  <a:txBody>
                    <a:bodyPr/>
                    <a:lstStyle/>
                    <a:p>
                      <a:pPr marL="0" indent="0">
                        <a:buNone/>
                      </a:pPr>
                      <a:r>
                        <a:rPr lang="en-US" sz="1400" dirty="0" err="1">
                          <a:solidFill>
                            <a:srgbClr val="000000"/>
                          </a:solidFill>
                          <a:latin typeface="Times New Roman" panose="02020603050405020304" pitchFamily="18" charset="0"/>
                          <a:ea typeface="Consolas" pitchFamily="34" charset="-122"/>
                          <a:cs typeface="Times New Roman" panose="02020603050405020304" pitchFamily="18" charset="0"/>
                        </a:rPr>
                        <a:t>travel_users</a:t>
                      </a:r>
                      <a:endParaRPr lang="en-US" sz="140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user::{</a:t>
                      </a:r>
                      <a:r>
                        <a:rPr lang="en-US" sz="1150" dirty="0" err="1">
                          <a:solidFill>
                            <a:srgbClr val="000000"/>
                          </a:solidFill>
                          <a:latin typeface="Times New Roman" panose="02020603050405020304" pitchFamily="18" charset="0"/>
                          <a:ea typeface="Consolas" pitchFamily="34" charset="-122"/>
                          <a:cs typeface="Times New Roman" panose="02020603050405020304" pitchFamily="18" charset="0"/>
                        </a:rPr>
                        <a:t>uuid</a:t>
                      </a: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472">
                <a:tc>
                  <a:txBody>
                    <a:bodyPr/>
                    <a:lstStyle/>
                    <a:p>
                      <a:pPr marL="0" indent="0">
                        <a:buNone/>
                      </a:pPr>
                      <a:r>
                        <a:rPr lang="en-US" sz="1250" dirty="0" err="1">
                          <a:solidFill>
                            <a:srgbClr val="2C3932"/>
                          </a:solidFill>
                          <a:latin typeface="Times New Roman" panose="02020603050405020304" pitchFamily="18" charset="0"/>
                          <a:ea typeface="+mn-lt" pitchFamily="34" charset="-122"/>
                          <a:cs typeface="Times New Roman" panose="02020603050405020304" pitchFamily="18" charset="0"/>
                        </a:rPr>
                        <a:t>travel_content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post::{</a:t>
                      </a:r>
                      <a:r>
                        <a:rPr lang="en-US" sz="1150" dirty="0" err="1">
                          <a:solidFill>
                            <a:srgbClr val="000000"/>
                          </a:solidFill>
                          <a:latin typeface="Times New Roman" panose="02020603050405020304" pitchFamily="18" charset="0"/>
                          <a:ea typeface="Consolas" pitchFamily="34" charset="-122"/>
                          <a:cs typeface="Times New Roman" panose="02020603050405020304" pitchFamily="18" charset="0"/>
                        </a:rPr>
                        <a:t>uuid</a:t>
                      </a: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472">
                <a:tc>
                  <a:txBody>
                    <a:bodyPr/>
                    <a:lstStyle/>
                    <a:p>
                      <a:pPr marL="0" indent="0">
                        <a:buNone/>
                      </a:pPr>
                      <a:r>
                        <a:rPr lang="en-US" sz="1250" dirty="0" err="1">
                          <a:solidFill>
                            <a:srgbClr val="2C3932"/>
                          </a:solidFill>
                          <a:latin typeface="Times New Roman" panose="02020603050405020304" pitchFamily="18" charset="0"/>
                          <a:ea typeface="+mn-lt" pitchFamily="34" charset="-122"/>
                          <a:cs typeface="Times New Roman" panose="02020603050405020304" pitchFamily="18" charset="0"/>
                        </a:rPr>
                        <a:t>travel_trips</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destination::{</a:t>
                      </a:r>
                      <a:r>
                        <a:rPr lang="en-US" sz="1150" dirty="0" err="1">
                          <a:solidFill>
                            <a:srgbClr val="000000"/>
                          </a:solidFill>
                          <a:latin typeface="Times New Roman" panose="02020603050405020304" pitchFamily="18" charset="0"/>
                          <a:ea typeface="Consolas" pitchFamily="34" charset="-122"/>
                          <a:cs typeface="Times New Roman" panose="02020603050405020304" pitchFamily="18" charset="0"/>
                        </a:rPr>
                        <a:t>countryCode</a:t>
                      </a: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}::{slug}</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472">
                <a:tc>
                  <a:txBody>
                    <a:bodyPr/>
                    <a:lstStyle/>
                    <a:p>
                      <a:pPr marL="0" indent="0">
                        <a:buNone/>
                      </a:pPr>
                      <a:r>
                        <a:rPr lang="en-US" sz="1250" dirty="0" err="1">
                          <a:latin typeface="Times New Roman" panose="02020603050405020304" pitchFamily="18" charset="0"/>
                          <a:ea typeface="+mn-lt" charset="0"/>
                          <a:cs typeface="Times New Roman" panose="02020603050405020304" pitchFamily="18" charset="0"/>
                        </a:rPr>
                        <a:t>travel_social</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50" dirty="0">
                          <a:latin typeface="Times New Roman" panose="02020603050405020304" pitchFamily="18" charset="0"/>
                          <a:ea typeface="Consolas" charset="0"/>
                          <a:cs typeface="Times New Roman" panose="02020603050405020304" pitchFamily="18" charset="0"/>
                        </a:rPr>
                        <a:t>connection::{</a:t>
                      </a:r>
                      <a:r>
                        <a:rPr lang="en-US" sz="1150" dirty="0" err="1">
                          <a:latin typeface="Times New Roman" panose="02020603050405020304" pitchFamily="18" charset="0"/>
                          <a:ea typeface="Consolas" charset="0"/>
                          <a:cs typeface="Times New Roman" panose="02020603050405020304" pitchFamily="18" charset="0"/>
                        </a:rPr>
                        <a:t>followerId</a:t>
                      </a:r>
                      <a:r>
                        <a:rPr lang="en-US" sz="1150" dirty="0">
                          <a:latin typeface="Times New Roman" panose="02020603050405020304" pitchFamily="18" charset="0"/>
                          <a:ea typeface="Consolas" charset="0"/>
                          <a:cs typeface="Times New Roman" panose="02020603050405020304" pitchFamily="18" charset="0"/>
                        </a:rPr>
                        <a:t>}::{</a:t>
                      </a:r>
                      <a:r>
                        <a:rPr lang="en-US" sz="1150" dirty="0" err="1">
                          <a:latin typeface="Times New Roman" panose="02020603050405020304" pitchFamily="18" charset="0"/>
                          <a:ea typeface="Consolas" charset="0"/>
                          <a:cs typeface="Times New Roman" panose="02020603050405020304" pitchFamily="18" charset="0"/>
                        </a:rPr>
                        <a:t>followingId</a:t>
                      </a:r>
                      <a:r>
                        <a:rPr lang="en-US" sz="1150" dirty="0">
                          <a:latin typeface="Times New Roman" panose="02020603050405020304" pitchFamily="18" charset="0"/>
                          <a:ea typeface="Consolas" charset="0"/>
                          <a:cs typeface="Times New Roman" panose="02020603050405020304" pitchFamily="18" charset="0"/>
                        </a:rPr>
                        <a:t>}</a:t>
                      </a: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356716968"/>
                  </a:ext>
                </a:extLst>
              </a:tr>
            </a:tbl>
          </a:graphicData>
        </a:graphic>
      </p:graphicFrame>
      <p:sp>
        <p:nvSpPr>
          <p:cNvPr id="6" name="Shape 3"/>
          <p:cNvSpPr/>
          <p:nvPr/>
        </p:nvSpPr>
        <p:spPr>
          <a:xfrm>
            <a:off x="905256" y="3975278"/>
            <a:ext cx="82296" cy="82296"/>
          </a:xfrm>
          <a:prstGeom prst="ellipse">
            <a:avLst/>
          </a:prstGeom>
          <a:solidFill>
            <a:srgbClr val="000000"/>
          </a:solidFill>
          <a:ln/>
        </p:spPr>
        <p:txBody>
          <a:bodyPr/>
          <a:lstStyle/>
          <a:p>
            <a:endParaRPr lang="en-US"/>
          </a:p>
        </p:txBody>
      </p:sp>
      <p:sp>
        <p:nvSpPr>
          <p:cNvPr id="7" name="Text 4"/>
          <p:cNvSpPr/>
          <p:nvPr/>
        </p:nvSpPr>
        <p:spPr>
          <a:xfrm>
            <a:off x="1179576" y="3724808"/>
            <a:ext cx="10143439" cy="583235"/>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Khác SQL: khoá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do lập trình viên tự đặt</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không phải số tự tăng</a:t>
            </a:r>
            <a:endParaRPr lang="en-US" sz="1550" dirty="0">
              <a:latin typeface="Times New Roman" panose="02020603050405020304" pitchFamily="18" charset="0"/>
              <a:cs typeface="Times New Roman" panose="02020603050405020304" pitchFamily="18" charset="0"/>
            </a:endParaRPr>
          </a:p>
        </p:txBody>
      </p:sp>
      <p:sp>
        <p:nvSpPr>
          <p:cNvPr id="8" name="Shape 5"/>
          <p:cNvSpPr/>
          <p:nvPr/>
        </p:nvSpPr>
        <p:spPr>
          <a:xfrm>
            <a:off x="905256" y="4558513"/>
            <a:ext cx="82296" cy="82296"/>
          </a:xfrm>
          <a:prstGeom prst="ellipse">
            <a:avLst/>
          </a:prstGeom>
          <a:solidFill>
            <a:srgbClr val="000000"/>
          </a:solidFill>
          <a:ln/>
        </p:spPr>
        <p:txBody>
          <a:bodyPr/>
          <a:lstStyle/>
          <a:p>
            <a:endParaRPr lang="en-US"/>
          </a:p>
        </p:txBody>
      </p:sp>
      <p:sp>
        <p:nvSpPr>
          <p:cNvPr id="9" name="Text 6"/>
          <p:cNvSpPr/>
          <p:nvPr/>
        </p:nvSpPr>
        <p:spPr>
          <a:xfrm>
            <a:off x="1179576" y="4308043"/>
            <a:ext cx="10143439" cy="583235"/>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Nhìn khoá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destination::VN::hoi-an</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là biết ngay đó là điểm đến nào</a:t>
            </a:r>
            <a:endParaRPr lang="en-US" sz="1550" dirty="0">
              <a:latin typeface="Times New Roman" panose="02020603050405020304" pitchFamily="18" charset="0"/>
              <a:cs typeface="Times New Roman" panose="02020603050405020304" pitchFamily="18" charset="0"/>
            </a:endParaRPr>
          </a:p>
        </p:txBody>
      </p:sp>
      <p:sp>
        <p:nvSpPr>
          <p:cNvPr id="10" name="Shape 7"/>
          <p:cNvSpPr/>
          <p:nvPr/>
        </p:nvSpPr>
        <p:spPr>
          <a:xfrm>
            <a:off x="905256" y="5141747"/>
            <a:ext cx="82296" cy="82296"/>
          </a:xfrm>
          <a:prstGeom prst="ellipse">
            <a:avLst/>
          </a:prstGeom>
          <a:solidFill>
            <a:srgbClr val="000000"/>
          </a:solidFill>
          <a:ln/>
        </p:spPr>
        <p:txBody>
          <a:bodyPr/>
          <a:lstStyle/>
          <a:p>
            <a:endParaRPr lang="en-US"/>
          </a:p>
        </p:txBody>
      </p:sp>
      <p:sp>
        <p:nvSpPr>
          <p:cNvPr id="11" name="Text 8"/>
          <p:cNvSpPr/>
          <p:nvPr/>
        </p:nvSpPr>
        <p:spPr>
          <a:xfrm>
            <a:off x="1179576" y="4891278"/>
            <a:ext cx="10143439" cy="583235"/>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Biết khoá thì lấy dữ liệu ngay lập tức</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không cần đi tìm</a:t>
            </a:r>
            <a:endParaRPr lang="en-US" sz="1550" dirty="0">
              <a:latin typeface="Times New Roman" panose="02020603050405020304" pitchFamily="18" charset="0"/>
              <a:cs typeface="Times New Roman" panose="02020603050405020304" pitchFamily="18" charset="0"/>
            </a:endParaRPr>
          </a:p>
        </p:txBody>
      </p:sp>
      <p:sp>
        <p:nvSpPr>
          <p:cNvPr id="12" name="Shape 9"/>
          <p:cNvSpPr/>
          <p:nvPr/>
        </p:nvSpPr>
        <p:spPr>
          <a:xfrm>
            <a:off x="868680" y="5961888"/>
            <a:ext cx="10454335" cy="7315"/>
          </a:xfrm>
          <a:prstGeom prst="rect">
            <a:avLst/>
          </a:prstGeom>
          <a:solidFill>
            <a:srgbClr val="C9CFCB"/>
          </a:solidFill>
          <a:ln/>
        </p:spPr>
        <p:txBody>
          <a:bodyPr/>
          <a:lstStyle/>
          <a:p>
            <a:endParaRPr lang="en-US"/>
          </a:p>
        </p:txBody>
      </p:sp>
      <p:sp>
        <p:nvSpPr>
          <p:cNvPr id="13" name="Text 10"/>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4 · Mô hình dữ liệu</a:t>
            </a:r>
            <a:endParaRPr lang="en-US" sz="900" dirty="0"/>
          </a:p>
        </p:txBody>
      </p:sp>
      <p:sp>
        <p:nvSpPr>
          <p:cNvPr id="5" name="Text 11"/>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4 · MÔ HÌNH DỮ LIỆU   ·   ĐIỂM NHẤN</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Mẹo đặt khoá cho chức năng theo dõi</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Text 3"/>
          <p:cNvSpPr/>
          <p:nvPr/>
        </p:nvSpPr>
        <p:spPr>
          <a:xfrm>
            <a:off x="868680" y="1975104"/>
            <a:ext cx="10454335" cy="366217"/>
          </a:xfrm>
          <a:prstGeom prst="rect">
            <a:avLst/>
          </a:prstGeom>
          <a:noFill/>
          <a:ln/>
        </p:spPr>
        <p:txBody>
          <a:bodyPr wrap="square" rtlCol="0" anchor="t">
            <a:normAutofit/>
          </a:bodyPr>
          <a:lstStyle/>
          <a:p>
            <a:pPr marL="0" indent="0">
              <a:buNone/>
            </a:pPr>
            <a:r>
              <a:rPr lang="en-US" sz="1600" b="1" dirty="0">
                <a:solidFill>
                  <a:srgbClr val="000000"/>
                </a:solidFill>
                <a:latin typeface="Times New Roman" panose="02020603050405020304" pitchFamily="18" charset="0"/>
                <a:ea typeface="+mn-lt" pitchFamily="34" charset="-122"/>
                <a:cs typeface="Times New Roman" panose="02020603050405020304" pitchFamily="18" charset="0"/>
              </a:rPr>
              <a:t>Bài toán:</a:t>
            </a:r>
            <a:r>
              <a:rPr lang="en-US" sz="1600" dirty="0">
                <a:solidFill>
                  <a:srgbClr val="2C3932"/>
                </a:solidFill>
                <a:latin typeface="Times New Roman" panose="02020603050405020304" pitchFamily="18" charset="0"/>
                <a:ea typeface="+mn-lt" pitchFamily="34" charset="-122"/>
                <a:cs typeface="Times New Roman" panose="02020603050405020304" pitchFamily="18" charset="0"/>
              </a:rPr>
              <a:t> làm sao biết “A có đang theo dõi B không?”</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868680" y="2504084"/>
            <a:ext cx="10454335" cy="585948"/>
          </a:xfrm>
          <a:prstGeom prst="roundRect">
            <a:avLst>
              <a:gd name="adj" fmla="val 9363"/>
            </a:avLst>
          </a:prstGeom>
          <a:solidFill>
            <a:srgbClr val="C9E2D6"/>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1143000" y="2549804"/>
            <a:ext cx="9905695" cy="494508"/>
          </a:xfrm>
          <a:prstGeom prst="rect">
            <a:avLst/>
          </a:prstGeom>
          <a:noFill/>
          <a:ln/>
        </p:spPr>
        <p:txBody>
          <a:bodyPr wrap="square" rtlCol="0" anchor="ctr">
            <a:normAutofit/>
          </a:bodyPr>
          <a:lstStyle/>
          <a:p>
            <a:pPr marL="0" indent="0">
              <a:buNone/>
            </a:pPr>
            <a:r>
              <a:rPr lang="en-US" sz="1700" b="1" dirty="0">
                <a:solidFill>
                  <a:srgbClr val="000000"/>
                </a:solidFill>
                <a:latin typeface="Times New Roman" panose="02020603050405020304" pitchFamily="18" charset="0"/>
                <a:ea typeface="+mn-lt" pitchFamily="34" charset="-122"/>
                <a:cs typeface="Times New Roman" panose="02020603050405020304" pitchFamily="18" charset="0"/>
              </a:rPr>
              <a:t>Cách của nhóm em:</a:t>
            </a:r>
            <a:r>
              <a:rPr lang="en-US" sz="1700" dirty="0">
                <a:solidFill>
                  <a:srgbClr val="2C3932"/>
                </a:solidFill>
                <a:latin typeface="Times New Roman" panose="02020603050405020304" pitchFamily="18" charset="0"/>
                <a:ea typeface="+mn-lt" pitchFamily="34" charset="-122"/>
                <a:cs typeface="Times New Roman" panose="02020603050405020304" pitchFamily="18" charset="0"/>
              </a:rPr>
              <a:t> đặt khoá là </a:t>
            </a:r>
            <a:r>
              <a:rPr lang="en-US" sz="1550" dirty="0">
                <a:solidFill>
                  <a:srgbClr val="2C3932"/>
                </a:solidFill>
                <a:latin typeface="Times New Roman" panose="02020603050405020304" pitchFamily="18" charset="0"/>
                <a:ea typeface="Consolas" pitchFamily="34" charset="-122"/>
                <a:cs typeface="Times New Roman" panose="02020603050405020304" pitchFamily="18" charset="0"/>
              </a:rPr>
              <a:t>connection::{A}::{B}</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905256" y="3486310"/>
            <a:ext cx="82296" cy="82296"/>
          </a:xfrm>
          <a:prstGeom prst="ellipse">
            <a:avLst/>
          </a:prstGeom>
          <a:solidFill>
            <a:srgbClr val="000000"/>
          </a:solidFill>
          <a:ln/>
        </p:spPr>
        <p:txBody>
          <a:bodyPr/>
          <a:lstStyle/>
          <a:p>
            <a:endParaRPr lang="en-US"/>
          </a:p>
        </p:txBody>
      </p:sp>
      <p:sp>
        <p:nvSpPr>
          <p:cNvPr id="9" name="Text 7"/>
          <p:cNvSpPr/>
          <p:nvPr/>
        </p:nvSpPr>
        <p:spPr>
          <a:xfrm>
            <a:off x="1179576" y="3252795"/>
            <a:ext cx="10143439" cy="54932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Kiểm tra</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thử lấy document mang khoá đó.  Lấy được = có theo dõi  ·  Không thấy = chưa theo dõi</a:t>
            </a:r>
            <a:endParaRPr lang="en-US" sz="1550" dirty="0">
              <a:latin typeface="Times New Roman" panose="02020603050405020304" pitchFamily="18" charset="0"/>
              <a:cs typeface="Times New Roman" panose="02020603050405020304" pitchFamily="18" charset="0"/>
            </a:endParaRPr>
          </a:p>
        </p:txBody>
      </p:sp>
      <p:sp>
        <p:nvSpPr>
          <p:cNvPr id="10" name="Shape 8"/>
          <p:cNvSpPr/>
          <p:nvPr/>
        </p:nvSpPr>
        <p:spPr>
          <a:xfrm>
            <a:off x="905256" y="4035636"/>
            <a:ext cx="82296" cy="82296"/>
          </a:xfrm>
          <a:prstGeom prst="ellipse">
            <a:avLst/>
          </a:prstGeom>
          <a:solidFill>
            <a:srgbClr val="000000"/>
          </a:solidFill>
          <a:ln/>
        </p:spPr>
        <p:txBody>
          <a:bodyPr/>
          <a:lstStyle/>
          <a:p>
            <a:endParaRPr lang="en-US"/>
          </a:p>
        </p:txBody>
      </p:sp>
      <p:sp>
        <p:nvSpPr>
          <p:cNvPr id="11" name="Text 9"/>
          <p:cNvSpPr/>
          <p:nvPr/>
        </p:nvSpPr>
        <p:spPr>
          <a:xfrm>
            <a:off x="1179576" y="3802121"/>
            <a:ext cx="10143439" cy="54932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Theo dõi</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tạo document</a:t>
            </a:r>
            <a:endParaRPr lang="en-US" sz="1550" dirty="0">
              <a:latin typeface="Times New Roman" panose="02020603050405020304" pitchFamily="18" charset="0"/>
              <a:cs typeface="Times New Roman" panose="02020603050405020304" pitchFamily="18" charset="0"/>
            </a:endParaRPr>
          </a:p>
        </p:txBody>
      </p:sp>
      <p:sp>
        <p:nvSpPr>
          <p:cNvPr id="12" name="Shape 10"/>
          <p:cNvSpPr/>
          <p:nvPr/>
        </p:nvSpPr>
        <p:spPr>
          <a:xfrm>
            <a:off x="905256" y="4584962"/>
            <a:ext cx="82296" cy="82296"/>
          </a:xfrm>
          <a:prstGeom prst="ellipse">
            <a:avLst/>
          </a:prstGeom>
          <a:solidFill>
            <a:srgbClr val="000000"/>
          </a:solidFill>
          <a:ln/>
        </p:spPr>
        <p:txBody>
          <a:bodyPr/>
          <a:lstStyle/>
          <a:p>
            <a:endParaRPr lang="en-US"/>
          </a:p>
        </p:txBody>
      </p:sp>
      <p:sp>
        <p:nvSpPr>
          <p:cNvPr id="13" name="Text 11"/>
          <p:cNvSpPr/>
          <p:nvPr/>
        </p:nvSpPr>
        <p:spPr>
          <a:xfrm>
            <a:off x="1179576" y="4351447"/>
            <a:ext cx="10143439" cy="54932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Bỏ theo dõi</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xoá document</a:t>
            </a:r>
            <a:endParaRPr lang="en-US" sz="1550" dirty="0">
              <a:latin typeface="Times New Roman" panose="02020603050405020304" pitchFamily="18" charset="0"/>
              <a:cs typeface="Times New Roman" panose="02020603050405020304" pitchFamily="18" charset="0"/>
            </a:endParaRPr>
          </a:p>
        </p:txBody>
      </p:sp>
      <p:sp>
        <p:nvSpPr>
          <p:cNvPr id="14" name="Shape 12"/>
          <p:cNvSpPr/>
          <p:nvPr/>
        </p:nvSpPr>
        <p:spPr>
          <a:xfrm>
            <a:off x="905256" y="5134287"/>
            <a:ext cx="82296" cy="82296"/>
          </a:xfrm>
          <a:prstGeom prst="ellipse">
            <a:avLst/>
          </a:prstGeom>
          <a:solidFill>
            <a:srgbClr val="000000"/>
          </a:solidFill>
          <a:ln/>
        </p:spPr>
        <p:txBody>
          <a:bodyPr/>
          <a:lstStyle/>
          <a:p>
            <a:endParaRPr lang="en-US"/>
          </a:p>
        </p:txBody>
      </p:sp>
      <p:sp>
        <p:nvSpPr>
          <p:cNvPr id="15" name="Text 13"/>
          <p:cNvSpPr/>
          <p:nvPr/>
        </p:nvSpPr>
        <p:spPr>
          <a:xfrm>
            <a:off x="1179576" y="4900773"/>
            <a:ext cx="10143439" cy="549326"/>
          </a:xfrm>
          <a:prstGeom prst="rect">
            <a:avLst/>
          </a:prstGeom>
          <a:noFill/>
          <a:ln/>
        </p:spPr>
        <p:txBody>
          <a:bodyPr wrap="square" rtlCol="0" anchor="ctr">
            <a:normAutofit/>
          </a:bodyPr>
          <a:lstStyle/>
          <a:p>
            <a:pPr marL="0" indent="0">
              <a:buNone/>
            </a:pP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Bấm nhầm 2 lần</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khoá trùng, hệ thống tự báo lỗi, không cần viết code kiểm tra</a:t>
            </a:r>
            <a:endParaRPr lang="en-US" sz="1550" dirty="0">
              <a:latin typeface="Times New Roman" panose="02020603050405020304" pitchFamily="18" charset="0"/>
              <a:cs typeface="Times New Roman" panose="02020603050405020304" pitchFamily="18" charset="0"/>
            </a:endParaRPr>
          </a:p>
        </p:txBody>
      </p:sp>
      <p:sp>
        <p:nvSpPr>
          <p:cNvPr id="16" name="Shape 14"/>
          <p:cNvSpPr/>
          <p:nvPr/>
        </p:nvSpPr>
        <p:spPr>
          <a:xfrm>
            <a:off x="868680" y="5961888"/>
            <a:ext cx="10454335" cy="7315"/>
          </a:xfrm>
          <a:prstGeom prst="rect">
            <a:avLst/>
          </a:prstGeom>
          <a:solidFill>
            <a:srgbClr val="C9CFCB"/>
          </a:solidFill>
          <a:ln/>
        </p:spPr>
        <p:txBody>
          <a:bodyPr/>
          <a:lstStyle/>
          <a:p>
            <a:endParaRPr lang="en-US"/>
          </a:p>
        </p:txBody>
      </p:sp>
      <p:sp>
        <p:nvSpPr>
          <p:cNvPr id="17" name="Text 15"/>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4 · Mô hình dữ liệu</a:t>
            </a:r>
            <a:endParaRPr lang="en-US" sz="900" dirty="0"/>
          </a:p>
        </p:txBody>
      </p:sp>
      <p:sp>
        <p:nvSpPr>
          <p:cNvPr id="18" name="Text 16"/>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5 · CÁCH TRUY VẤN   ·   LỰA CHỌN</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Couchbase có hai cách lấy dữ liệu</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5144872" cy="2034540"/>
          </a:xfrm>
          <a:prstGeom prst="roundRect">
            <a:avLst>
              <a:gd name="adj" fmla="val 2247"/>
            </a:avLst>
          </a:prstGeom>
          <a:solidFill>
            <a:srgbClr val="FFFFFF"/>
          </a:solidFill>
          <a:ln w="19050">
            <a:solidFill>
              <a:srgbClr val="000000"/>
            </a:solidFill>
            <a:prstDash val="solid"/>
          </a:ln>
        </p:spPr>
        <p:txBody>
          <a:bodyPr/>
          <a:lstStyle/>
          <a:p>
            <a:endParaRPr lang="en-US"/>
          </a:p>
        </p:txBody>
      </p:sp>
      <p:sp>
        <p:nvSpPr>
          <p:cNvPr id="6" name="Shape 4"/>
          <p:cNvSpPr/>
          <p:nvPr/>
        </p:nvSpPr>
        <p:spPr>
          <a:xfrm>
            <a:off x="868680" y="1975104"/>
            <a:ext cx="5144872" cy="68580"/>
          </a:xfrm>
          <a:prstGeom prst="roundRect">
            <a:avLst>
              <a:gd name="adj" fmla="val 40000"/>
            </a:avLst>
          </a:prstGeom>
          <a:solidFill>
            <a:srgbClr val="C9E2D6"/>
          </a:solidFill>
          <a:ln w="3175">
            <a:solidFill>
              <a:srgbClr val="C9E2D6"/>
            </a:solidFill>
            <a:prstDash val="solid"/>
          </a:ln>
        </p:spPr>
        <p:txBody>
          <a:bodyPr/>
          <a:lstStyle/>
          <a:p>
            <a:endParaRPr lang="en-US"/>
          </a:p>
        </p:txBody>
      </p:sp>
      <p:sp>
        <p:nvSpPr>
          <p:cNvPr id="7" name="Text 5"/>
          <p:cNvSpPr/>
          <p:nvPr/>
        </p:nvSpPr>
        <p:spPr>
          <a:xfrm>
            <a:off x="1069848" y="2130552"/>
            <a:ext cx="4742536"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CÁCH 1</a:t>
            </a:r>
            <a:endParaRPr lang="en-US" sz="950" dirty="0"/>
          </a:p>
        </p:txBody>
      </p:sp>
      <p:sp>
        <p:nvSpPr>
          <p:cNvPr id="8" name="Text 6"/>
          <p:cNvSpPr/>
          <p:nvPr/>
        </p:nvSpPr>
        <p:spPr>
          <a:xfrm>
            <a:off x="1069848" y="2340864"/>
            <a:ext cx="4742536" cy="438912"/>
          </a:xfrm>
          <a:prstGeom prst="rect">
            <a:avLst/>
          </a:prstGeom>
          <a:noFill/>
          <a:ln/>
        </p:spPr>
        <p:txBody>
          <a:bodyPr wrap="square" rtlCol="0" anchor="t">
            <a:normAutofit/>
          </a:bodyPr>
          <a:lstStyle/>
          <a:p>
            <a:pPr marL="0" indent="0">
              <a:buNone/>
            </a:pPr>
            <a:r>
              <a:rPr lang="en-US" sz="1650" b="1" dirty="0">
                <a:solidFill>
                  <a:srgbClr val="000000"/>
                </a:solidFill>
                <a:latin typeface="+mj-lt" pitchFamily="34" charset="0"/>
                <a:ea typeface="+mj-lt" pitchFamily="34" charset="-122"/>
                <a:cs typeface="+mj-lt" pitchFamily="34" charset="-120"/>
              </a:rPr>
              <a:t>Lấy theo khoá · Key-Value</a:t>
            </a:r>
            <a:endParaRPr lang="en-US" sz="1650" dirty="0"/>
          </a:p>
        </p:txBody>
      </p:sp>
      <p:sp>
        <p:nvSpPr>
          <p:cNvPr id="9" name="Text 7"/>
          <p:cNvSpPr/>
          <p:nvPr/>
        </p:nvSpPr>
        <p:spPr>
          <a:xfrm>
            <a:off x="1069848" y="2816352"/>
            <a:ext cx="4742536" cy="1028700"/>
          </a:xfrm>
          <a:prstGeom prst="rect">
            <a:avLst/>
          </a:prstGeom>
          <a:noFill/>
          <a:ln/>
        </p:spPr>
        <p:txBody>
          <a:bodyPr wrap="square" rtlCol="0" anchor="t">
            <a:normAutofit/>
          </a:bodyPr>
          <a:lstStyle/>
          <a:p>
            <a:pPr marL="0" indent="0">
              <a:buNone/>
            </a:pPr>
            <a:r>
              <a:rPr lang="en-US" sz="1300" dirty="0">
                <a:solidFill>
                  <a:srgbClr val="2C3932"/>
                </a:solidFill>
                <a:latin typeface="Times New Roman" panose="02020603050405020304" pitchFamily="18" charset="0"/>
                <a:ea typeface="+mn-lt" pitchFamily="34" charset="-122"/>
                <a:cs typeface="Times New Roman" panose="02020603050405020304" pitchFamily="18" charset="0"/>
              </a:rPr>
              <a:t>Đã biết khoá → lấy thẳng, cực nhanh.</a:t>
            </a:r>
            <a:endParaRPr lang="en-US" sz="1300" dirty="0">
              <a:latin typeface="Times New Roman" panose="02020603050405020304" pitchFamily="18" charset="0"/>
              <a:cs typeface="Times New Roman" panose="02020603050405020304" pitchFamily="18" charset="0"/>
            </a:endParaRPr>
          </a:p>
          <a:p>
            <a:pPr marL="0" indent="0">
              <a:buNone/>
            </a:pP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2C3932"/>
                </a:solidFill>
                <a:latin typeface="Times New Roman" panose="02020603050405020304" pitchFamily="18" charset="0"/>
                <a:ea typeface="+mn-lt" pitchFamily="34" charset="-122"/>
                <a:cs typeface="Times New Roman" panose="02020603050405020304" pitchFamily="18" charset="0"/>
              </a:rPr>
              <a:t>Ví dụ: đọc hồ sơ người đang đăng nhập, kiểm tra A có theo dõi B không.</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6178144" y="1975104"/>
            <a:ext cx="5144872" cy="2034540"/>
          </a:xfrm>
          <a:prstGeom prst="roundRect">
            <a:avLst>
              <a:gd name="adj" fmla="val 2247"/>
            </a:avLst>
          </a:prstGeom>
          <a:solidFill>
            <a:srgbClr val="FFFFFF"/>
          </a:solidFill>
          <a:ln w="9525">
            <a:solidFill>
              <a:srgbClr val="C9CFCB"/>
            </a:solidFill>
            <a:prstDash val="solid"/>
          </a:ln>
        </p:spPr>
        <p:txBody>
          <a:bodyPr/>
          <a:lstStyle/>
          <a:p>
            <a:endParaRPr lang="en-US"/>
          </a:p>
        </p:txBody>
      </p:sp>
      <p:sp>
        <p:nvSpPr>
          <p:cNvPr id="11" name="Shape 9"/>
          <p:cNvSpPr/>
          <p:nvPr/>
        </p:nvSpPr>
        <p:spPr>
          <a:xfrm>
            <a:off x="6178144" y="1975104"/>
            <a:ext cx="5144872" cy="68580"/>
          </a:xfrm>
          <a:prstGeom prst="roundRect">
            <a:avLst>
              <a:gd name="adj" fmla="val 40000"/>
            </a:avLst>
          </a:prstGeom>
          <a:solidFill>
            <a:srgbClr val="DBE7F5"/>
          </a:solidFill>
          <a:ln w="3175">
            <a:solidFill>
              <a:srgbClr val="DBE7F5"/>
            </a:solidFill>
            <a:prstDash val="solid"/>
          </a:ln>
        </p:spPr>
        <p:txBody>
          <a:bodyPr/>
          <a:lstStyle/>
          <a:p>
            <a:endParaRPr lang="en-US"/>
          </a:p>
        </p:txBody>
      </p:sp>
      <p:sp>
        <p:nvSpPr>
          <p:cNvPr id="12" name="Text 10"/>
          <p:cNvSpPr/>
          <p:nvPr/>
        </p:nvSpPr>
        <p:spPr>
          <a:xfrm>
            <a:off x="6379312" y="2130552"/>
            <a:ext cx="4742536" cy="201168"/>
          </a:xfrm>
          <a:prstGeom prst="rect">
            <a:avLst/>
          </a:prstGeom>
          <a:noFill/>
          <a:ln/>
        </p:spPr>
        <p:txBody>
          <a:bodyPr wrap="square" rtlCol="0" anchor="ctr"/>
          <a:lstStyle/>
          <a:p>
            <a:pPr marL="0" indent="0">
              <a:buNone/>
            </a:pPr>
            <a:r>
              <a:rPr lang="en-US" sz="950" b="1" kern="0" spc="130" dirty="0">
                <a:solidFill>
                  <a:srgbClr val="6E7C75"/>
                </a:solidFill>
                <a:latin typeface="+mn-lt" pitchFamily="34" charset="0"/>
                <a:ea typeface="+mn-lt" pitchFamily="34" charset="-122"/>
                <a:cs typeface="+mn-lt" pitchFamily="34" charset="-120"/>
              </a:rPr>
              <a:t>CÁCH 2</a:t>
            </a:r>
            <a:endParaRPr lang="en-US" sz="950" dirty="0"/>
          </a:p>
        </p:txBody>
      </p:sp>
      <p:sp>
        <p:nvSpPr>
          <p:cNvPr id="13" name="Text 11"/>
          <p:cNvSpPr/>
          <p:nvPr/>
        </p:nvSpPr>
        <p:spPr>
          <a:xfrm>
            <a:off x="6379312" y="2340864"/>
            <a:ext cx="4742536" cy="438912"/>
          </a:xfrm>
          <a:prstGeom prst="rect">
            <a:avLst/>
          </a:prstGeom>
          <a:noFill/>
          <a:ln/>
        </p:spPr>
        <p:txBody>
          <a:bodyPr wrap="square" rtlCol="0" anchor="t">
            <a:normAutofit/>
          </a:bodyPr>
          <a:lstStyle/>
          <a:p>
            <a:pPr marL="0" indent="0">
              <a:buNone/>
            </a:pPr>
            <a:r>
              <a:rPr lang="en-US" sz="1650" b="1" dirty="0">
                <a:solidFill>
                  <a:srgbClr val="000000"/>
                </a:solidFill>
                <a:latin typeface="+mj-lt" pitchFamily="34" charset="0"/>
                <a:ea typeface="+mj-lt" pitchFamily="34" charset="-122"/>
                <a:cs typeface="+mj-lt" pitchFamily="34" charset="-120"/>
              </a:rPr>
              <a:t>Truy vấn N1QL · giống SQL</a:t>
            </a:r>
            <a:endParaRPr lang="en-US" sz="1650" dirty="0"/>
          </a:p>
        </p:txBody>
      </p:sp>
      <p:sp>
        <p:nvSpPr>
          <p:cNvPr id="14" name="Text 12"/>
          <p:cNvSpPr/>
          <p:nvPr/>
        </p:nvSpPr>
        <p:spPr>
          <a:xfrm>
            <a:off x="6379312" y="2816352"/>
            <a:ext cx="4742536" cy="1028700"/>
          </a:xfrm>
          <a:prstGeom prst="rect">
            <a:avLst/>
          </a:prstGeom>
          <a:noFill/>
          <a:ln/>
        </p:spPr>
        <p:txBody>
          <a:bodyPr wrap="square" rtlCol="0" anchor="t">
            <a:normAutofit/>
          </a:bodyPr>
          <a:lstStyle/>
          <a:p>
            <a:pPr marL="0" indent="0">
              <a:buNone/>
            </a:pPr>
            <a:r>
              <a:rPr lang="en-US" sz="1300" dirty="0">
                <a:solidFill>
                  <a:srgbClr val="2C3932"/>
                </a:solidFill>
                <a:latin typeface="Times New Roman" panose="02020603050405020304" pitchFamily="18" charset="0"/>
                <a:ea typeface="+mn-lt" pitchFamily="34" charset="-122"/>
                <a:cs typeface="Times New Roman" panose="02020603050405020304" pitchFamily="18" charset="0"/>
              </a:rPr>
              <a:t>Chưa biết khoá, cần lọc / sắp xếp / tìm kiếm.</a:t>
            </a:r>
            <a:endParaRPr lang="en-US" sz="1300" dirty="0">
              <a:latin typeface="Times New Roman" panose="02020603050405020304" pitchFamily="18" charset="0"/>
              <a:cs typeface="Times New Roman" panose="02020603050405020304" pitchFamily="18" charset="0"/>
            </a:endParaRPr>
          </a:p>
          <a:p>
            <a:pPr marL="0" indent="0">
              <a:buNone/>
            </a:pP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2C3932"/>
                </a:solidFill>
                <a:latin typeface="Times New Roman" panose="02020603050405020304" pitchFamily="18" charset="0"/>
                <a:ea typeface="+mn-lt" pitchFamily="34" charset="-122"/>
                <a:cs typeface="Times New Roman" panose="02020603050405020304" pitchFamily="18" charset="0"/>
              </a:rPr>
              <a:t>Ví dụ: đăng nhập bằng email, xem bảng tin, tìm kiếm điểm đến.</a:t>
            </a:r>
            <a:endParaRPr lang="en-US" sz="1300" dirty="0">
              <a:latin typeface="Times New Roman" panose="02020603050405020304" pitchFamily="18" charset="0"/>
              <a:cs typeface="Times New Roman" panose="02020603050405020304" pitchFamily="18" charset="0"/>
            </a:endParaRPr>
          </a:p>
        </p:txBody>
      </p:sp>
      <p:sp>
        <p:nvSpPr>
          <p:cNvPr id="15" name="Shape 13"/>
          <p:cNvSpPr/>
          <p:nvPr/>
        </p:nvSpPr>
        <p:spPr>
          <a:xfrm>
            <a:off x="868680" y="4172407"/>
            <a:ext cx="10454335" cy="773125"/>
          </a:xfrm>
          <a:prstGeom prst="roundRect">
            <a:avLst>
              <a:gd name="adj" fmla="val 7096"/>
            </a:avLst>
          </a:prstGeom>
          <a:solidFill>
            <a:srgbClr val="DBE7F5"/>
          </a:solidFill>
          <a:ln/>
        </p:spPr>
        <p:txBody>
          <a:bodyPr/>
          <a:lstStyle/>
          <a:p>
            <a:endParaRPr lang="en-US"/>
          </a:p>
        </p:txBody>
      </p:sp>
      <p:sp>
        <p:nvSpPr>
          <p:cNvPr id="16" name="Text 14"/>
          <p:cNvSpPr/>
          <p:nvPr/>
        </p:nvSpPr>
        <p:spPr>
          <a:xfrm>
            <a:off x="1143000" y="4218127"/>
            <a:ext cx="9905695" cy="681685"/>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Nguyên tắc nhóm em áp dụng: luôn tự hỏi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“có suy ra được khoá không?”</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 nếu có thì dùng Cách 1.</a:t>
            </a:r>
            <a:endParaRPr lang="en-US" sz="1450" dirty="0">
              <a:latin typeface="Times New Roman" panose="02020603050405020304" pitchFamily="18" charset="0"/>
              <a:cs typeface="Times New Roman" panose="02020603050405020304" pitchFamily="18" charset="0"/>
            </a:endParaRPr>
          </a:p>
        </p:txBody>
      </p:sp>
      <p:sp>
        <p:nvSpPr>
          <p:cNvPr id="17" name="Shape 15"/>
          <p:cNvSpPr/>
          <p:nvPr/>
        </p:nvSpPr>
        <p:spPr>
          <a:xfrm>
            <a:off x="868680" y="5961888"/>
            <a:ext cx="10454335" cy="7315"/>
          </a:xfrm>
          <a:prstGeom prst="rect">
            <a:avLst/>
          </a:prstGeom>
          <a:solidFill>
            <a:srgbClr val="C9CFCB"/>
          </a:solidFill>
          <a:ln/>
        </p:spPr>
        <p:txBody>
          <a:bodyPr/>
          <a:lstStyle/>
          <a:p>
            <a:endParaRPr lang="en-US"/>
          </a:p>
        </p:txBody>
      </p:sp>
      <p:sp>
        <p:nvSpPr>
          <p:cNvPr id="18" name="Text 1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5 · Truy vấn</a:t>
            </a:r>
            <a:endParaRPr lang="en-US" sz="900" dirty="0"/>
          </a:p>
        </p:txBody>
      </p:sp>
      <p:sp>
        <p:nvSpPr>
          <p:cNvPr id="19" name="Text 1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5 · CÁCH TRUY VẤN   ·   VÍ DỤ CÁCH 1</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Lấy hồ sơ người dùng bằng khoá</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10454335" cy="1627632"/>
          </a:xfrm>
          <a:prstGeom prst="roundRect">
            <a:avLst>
              <a:gd name="adj" fmla="val 2809"/>
            </a:avLst>
          </a:prstGeom>
          <a:solidFill>
            <a:srgbClr val="2C3932"/>
          </a:solidFill>
          <a:ln/>
        </p:spPr>
        <p:txBody>
          <a:bodyPr/>
          <a:lstStyle/>
          <a:p>
            <a:endParaRPr lang="en-US"/>
          </a:p>
        </p:txBody>
      </p:sp>
      <p:sp>
        <p:nvSpPr>
          <p:cNvPr id="6" name="Text 4"/>
          <p:cNvSpPr/>
          <p:nvPr/>
        </p:nvSpPr>
        <p:spPr>
          <a:xfrm>
            <a:off x="1124712" y="2029968"/>
            <a:ext cx="9942271" cy="256032"/>
          </a:xfrm>
          <a:prstGeom prst="rect">
            <a:avLst/>
          </a:prstGeom>
          <a:noFill/>
          <a:ln/>
        </p:spPr>
        <p:txBody>
          <a:bodyPr wrap="square" rtlCol="0" anchor="ctr"/>
          <a:lstStyle/>
          <a:p>
            <a:pPr marL="0" indent="0">
              <a:buNone/>
            </a:pPr>
            <a:r>
              <a:rPr lang="en-US" sz="900" kern="0" spc="100" dirty="0">
                <a:solidFill>
                  <a:srgbClr val="9DACA4"/>
                </a:solidFill>
                <a:latin typeface="+mn-lt" pitchFamily="34" charset="0"/>
                <a:ea typeface="+mn-lt" pitchFamily="34" charset="-122"/>
                <a:cs typeface="+mn-lt" pitchFamily="34" charset="-120"/>
              </a:rPr>
              <a:t>TÌNH HUỐNG · NGƯỜI DÙNG ĐÃ ĐĂNG NHẬP, CẦN LẤY HỒ SƠ CỦA HỌ</a:t>
            </a:r>
            <a:endParaRPr lang="en-US" sz="900" dirty="0"/>
          </a:p>
        </p:txBody>
      </p:sp>
      <p:sp>
        <p:nvSpPr>
          <p:cNvPr id="7" name="Shape 5"/>
          <p:cNvSpPr/>
          <p:nvPr/>
        </p:nvSpPr>
        <p:spPr>
          <a:xfrm>
            <a:off x="1124712" y="2304288"/>
            <a:ext cx="9942271" cy="7315"/>
          </a:xfrm>
          <a:prstGeom prst="rect">
            <a:avLst/>
          </a:prstGeom>
          <a:solidFill>
            <a:srgbClr val="46554D"/>
          </a:solidFill>
          <a:ln/>
        </p:spPr>
        <p:txBody>
          <a:bodyPr/>
          <a:lstStyle/>
          <a:p>
            <a:endParaRPr lang="en-US"/>
          </a:p>
        </p:txBody>
      </p:sp>
      <p:sp>
        <p:nvSpPr>
          <p:cNvPr id="8" name="Text 6"/>
          <p:cNvSpPr/>
          <p:nvPr/>
        </p:nvSpPr>
        <p:spPr>
          <a:xfrm>
            <a:off x="1143000" y="2432304"/>
            <a:ext cx="9905695" cy="1042416"/>
          </a:xfrm>
          <a:prstGeom prst="rect">
            <a:avLst/>
          </a:prstGeom>
          <a:noFill/>
          <a:ln/>
        </p:spPr>
        <p:txBody>
          <a:bodyPr wrap="square" rtlCol="0" anchor="t">
            <a:normAutofit fontScale="85000" lnSpcReduction="20000"/>
          </a:bodyPr>
          <a:lstStyle/>
          <a:p>
            <a:pPr marL="0" indent="0">
              <a:lnSpc>
                <a:spcPct val="114000"/>
              </a:lnSpc>
              <a:buNone/>
            </a:pPr>
            <a:r>
              <a:rPr lang="en-US" sz="1250" dirty="0">
                <a:solidFill>
                  <a:srgbClr val="8A9A92"/>
                </a:solidFill>
                <a:latin typeface="Consolas" pitchFamily="34" charset="0"/>
                <a:ea typeface="Consolas" pitchFamily="34" charset="-122"/>
                <a:cs typeface="Consolas" pitchFamily="34" charset="-120"/>
              </a:rPr>
              <a:t>// Bước 1 — ghép khoá từ id</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const</a:t>
            </a:r>
            <a:r>
              <a:rPr lang="en-US" sz="1250" dirty="0">
                <a:solidFill>
                  <a:srgbClr val="FDF6EA"/>
                </a:solidFill>
                <a:latin typeface="Consolas" pitchFamily="34" charset="0"/>
                <a:ea typeface="Consolas" pitchFamily="34" charset="-122"/>
                <a:cs typeface="Consolas" pitchFamily="34" charset="-120"/>
              </a:rPr>
              <a:t> key = </a:t>
            </a:r>
            <a:r>
              <a:rPr lang="en-US" sz="1250" dirty="0">
                <a:solidFill>
                  <a:srgbClr val="C9E2D6"/>
                </a:solidFill>
                <a:latin typeface="Consolas" pitchFamily="34" charset="0"/>
                <a:ea typeface="Consolas" pitchFamily="34" charset="-122"/>
                <a:cs typeface="Consolas" pitchFamily="34" charset="-120"/>
              </a:rPr>
              <a:t>`user::`</a:t>
            </a:r>
            <a:r>
              <a:rPr lang="en-US" sz="1250" dirty="0">
                <a:solidFill>
                  <a:srgbClr val="FDF6EA"/>
                </a:solidFill>
                <a:latin typeface="Consolas" pitchFamily="34" charset="0"/>
                <a:ea typeface="Consolas" pitchFamily="34" charset="-122"/>
                <a:cs typeface="Consolas" pitchFamily="34" charset="-120"/>
              </a:rPr>
              <a:t> + userId;         </a:t>
            </a:r>
            <a:r>
              <a:rPr lang="en-US" sz="1250" dirty="0">
                <a:solidFill>
                  <a:srgbClr val="8A9A92"/>
                </a:solidFill>
                <a:latin typeface="Consolas" pitchFamily="34" charset="0"/>
                <a:ea typeface="Consolas" pitchFamily="34" charset="-122"/>
                <a:cs typeface="Consolas" pitchFamily="34" charset="-120"/>
              </a:rPr>
              <a:t>// → "user::a1b2c3"</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8A9A92"/>
                </a:solidFill>
                <a:latin typeface="Consolas" pitchFamily="34" charset="0"/>
                <a:ea typeface="Consolas" pitchFamily="34" charset="-122"/>
                <a:cs typeface="Consolas" pitchFamily="34" charset="-120"/>
              </a:rPr>
              <a:t>// Bước 2 — lấy document về</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const</a:t>
            </a:r>
            <a:r>
              <a:rPr lang="en-US" sz="1250" dirty="0">
                <a:solidFill>
                  <a:srgbClr val="FDF6EA"/>
                </a:solidFill>
                <a:latin typeface="Consolas" pitchFamily="34" charset="0"/>
                <a:ea typeface="Consolas" pitchFamily="34" charset="-122"/>
                <a:cs typeface="Consolas" pitchFamily="34" charset="-120"/>
              </a:rPr>
              <a:t> result = </a:t>
            </a:r>
            <a:r>
              <a:rPr lang="en-US" sz="1250" dirty="0">
                <a:solidFill>
                  <a:srgbClr val="F0D2BF"/>
                </a:solidFill>
                <a:latin typeface="Consolas" pitchFamily="34" charset="0"/>
                <a:ea typeface="Consolas" pitchFamily="34" charset="-122"/>
                <a:cs typeface="Consolas" pitchFamily="34" charset="-120"/>
              </a:rPr>
              <a:t>await</a:t>
            </a:r>
            <a:r>
              <a:rPr lang="en-US" sz="1250" dirty="0">
                <a:solidFill>
                  <a:srgbClr val="FDF6EA"/>
                </a:solidFill>
                <a:latin typeface="Consolas" pitchFamily="34" charset="0"/>
                <a:ea typeface="Consolas" pitchFamily="34" charset="-122"/>
                <a:cs typeface="Consolas" pitchFamily="34" charset="-120"/>
              </a:rPr>
              <a:t> collection.get(key);</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const</a:t>
            </a:r>
            <a:r>
              <a:rPr lang="en-US" sz="1250" dirty="0">
                <a:solidFill>
                  <a:srgbClr val="FDF6EA"/>
                </a:solidFill>
                <a:latin typeface="Consolas" pitchFamily="34" charset="0"/>
                <a:ea typeface="Consolas" pitchFamily="34" charset="-122"/>
                <a:cs typeface="Consolas" pitchFamily="34" charset="-120"/>
              </a:rPr>
              <a:t> user = result.content;</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2336462597"/>
              </p:ext>
            </p:extLst>
          </p:nvPr>
        </p:nvGraphicFramePr>
        <p:xfrm>
          <a:off x="868680" y="3765499"/>
          <a:ext cx="10454335" cy="1453286"/>
        </p:xfrm>
        <a:graphic>
          <a:graphicData uri="http://schemas.openxmlformats.org/drawingml/2006/table">
            <a:tbl>
              <a:tblPr/>
              <a:tblGrid>
                <a:gridCol w="3933898">
                  <a:extLst>
                    <a:ext uri="{9D8B030D-6E8A-4147-A177-3AD203B41FA5}">
                      <a16:colId xmlns:a16="http://schemas.microsoft.com/office/drawing/2014/main" val="20000"/>
                    </a:ext>
                  </a:extLst>
                </a:gridCol>
                <a:gridCol w="6520437">
                  <a:extLst>
                    <a:ext uri="{9D8B030D-6E8A-4147-A177-3AD203B41FA5}">
                      <a16:colId xmlns:a16="http://schemas.microsoft.com/office/drawing/2014/main" val="20001"/>
                    </a:ext>
                  </a:extLst>
                </a:gridCol>
              </a:tblGrid>
              <a:tr h="325526">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LỆNH</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Ý NGHĨA</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280767">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get(key)</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Đọc document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0767">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insert(key, doc)</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Thêm mới — trùng khoá thì báo lỗi</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0767">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upsert(key, doc)</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Thêm mới hoặc ghi đè</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0767">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remove(key)</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Xoá document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7"/>
          <p:cNvSpPr/>
          <p:nvPr/>
        </p:nvSpPr>
        <p:spPr>
          <a:xfrm>
            <a:off x="868680" y="5376855"/>
            <a:ext cx="10454335" cy="423184"/>
          </a:xfrm>
          <a:prstGeom prst="roundRect">
            <a:avLst>
              <a:gd name="adj" fmla="val 12965"/>
            </a:avLst>
          </a:prstGeom>
          <a:solidFill>
            <a:srgbClr val="DBE7F5"/>
          </a:solidFill>
          <a:ln/>
        </p:spPr>
        <p:txBody>
          <a:bodyPr/>
          <a:lstStyle/>
          <a:p>
            <a:endParaRPr lang="en-US"/>
          </a:p>
        </p:txBody>
      </p:sp>
      <p:sp>
        <p:nvSpPr>
          <p:cNvPr id="11" name="Text 8"/>
          <p:cNvSpPr/>
          <p:nvPr/>
        </p:nvSpPr>
        <p:spPr>
          <a:xfrm>
            <a:off x="1143000" y="5422575"/>
            <a:ext cx="9905695" cy="331744"/>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Không cần </a:t>
            </a:r>
            <a:r>
              <a:rPr lang="en-US" sz="1300" dirty="0">
                <a:solidFill>
                  <a:srgbClr val="2C3932"/>
                </a:solidFill>
                <a:latin typeface="Times New Roman" panose="02020603050405020304" pitchFamily="18" charset="0"/>
                <a:ea typeface="Consolas" pitchFamily="34" charset="-122"/>
                <a:cs typeface="Times New Roman" panose="02020603050405020304" pitchFamily="18" charset="0"/>
              </a:rPr>
              <a:t>SELECT</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không cần </a:t>
            </a:r>
            <a:r>
              <a:rPr lang="en-US" sz="1300" dirty="0">
                <a:solidFill>
                  <a:srgbClr val="2C3932"/>
                </a:solidFill>
                <a:latin typeface="Times New Roman" panose="02020603050405020304" pitchFamily="18" charset="0"/>
                <a:ea typeface="Consolas" pitchFamily="34" charset="-122"/>
                <a:cs typeface="Times New Roman" panose="02020603050405020304" pitchFamily="18" charset="0"/>
              </a:rPr>
              <a:t>WHERE</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không cần tìm kiếm.</a:t>
            </a:r>
            <a:endParaRPr lang="en-US" sz="1450" dirty="0">
              <a:latin typeface="Times New Roman" panose="02020603050405020304" pitchFamily="18" charset="0"/>
              <a:cs typeface="Times New Roman" panose="02020603050405020304" pitchFamily="18" charset="0"/>
            </a:endParaRPr>
          </a:p>
        </p:txBody>
      </p:sp>
      <p:sp>
        <p:nvSpPr>
          <p:cNvPr id="12" name="Shape 9"/>
          <p:cNvSpPr/>
          <p:nvPr/>
        </p:nvSpPr>
        <p:spPr>
          <a:xfrm>
            <a:off x="868680" y="5961888"/>
            <a:ext cx="10454335" cy="7315"/>
          </a:xfrm>
          <a:prstGeom prst="rect">
            <a:avLst/>
          </a:prstGeom>
          <a:solidFill>
            <a:srgbClr val="C9CFCB"/>
          </a:solidFill>
          <a:ln/>
        </p:spPr>
        <p:txBody>
          <a:bodyPr/>
          <a:lstStyle/>
          <a:p>
            <a:endParaRPr lang="en-US"/>
          </a:p>
        </p:txBody>
      </p:sp>
      <p:sp>
        <p:nvSpPr>
          <p:cNvPr id="13" name="Text 10"/>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5 · Truy vấn</a:t>
            </a:r>
            <a:endParaRPr lang="en-US" sz="900" dirty="0"/>
          </a:p>
        </p:txBody>
      </p:sp>
      <p:sp>
        <p:nvSpPr>
          <p:cNvPr id="14" name="Text 11"/>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5 · CÁCH TRUY VẤN   ·   VÍ DỤ CÁCH 2</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N1QL — vẫn là SQL, chỉ thêm dấu chấm</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10454335" cy="1831086"/>
          </a:xfrm>
          <a:prstGeom prst="roundRect">
            <a:avLst>
              <a:gd name="adj" fmla="val 2497"/>
            </a:avLst>
          </a:prstGeom>
          <a:solidFill>
            <a:srgbClr val="2C3932"/>
          </a:solidFill>
          <a:ln/>
        </p:spPr>
        <p:txBody>
          <a:bodyPr/>
          <a:lstStyle/>
          <a:p>
            <a:endParaRPr lang="en-US"/>
          </a:p>
        </p:txBody>
      </p:sp>
      <p:sp>
        <p:nvSpPr>
          <p:cNvPr id="6" name="Text 4"/>
          <p:cNvSpPr/>
          <p:nvPr/>
        </p:nvSpPr>
        <p:spPr>
          <a:xfrm>
            <a:off x="1124712" y="2029968"/>
            <a:ext cx="9942271" cy="256032"/>
          </a:xfrm>
          <a:prstGeom prst="rect">
            <a:avLst/>
          </a:prstGeom>
          <a:noFill/>
          <a:ln/>
        </p:spPr>
        <p:txBody>
          <a:bodyPr wrap="square" rtlCol="0" anchor="ctr"/>
          <a:lstStyle/>
          <a:p>
            <a:pPr marL="0" indent="0">
              <a:buNone/>
            </a:pPr>
            <a:r>
              <a:rPr lang="en-US" sz="900" kern="0" spc="100" dirty="0">
                <a:solidFill>
                  <a:srgbClr val="9DACA4"/>
                </a:solidFill>
                <a:latin typeface="+mn-lt" pitchFamily="34" charset="0"/>
                <a:ea typeface="+mn-lt" pitchFamily="34" charset="-122"/>
                <a:cs typeface="+mn-lt" pitchFamily="34" charset="-120"/>
              </a:rPr>
              <a:t>LẤY 10 NGƯỜI DÙNG Ở VIỆT NAM CÓ NHIỀU NGƯỜI THEO DÕI NHẤT</a:t>
            </a:r>
            <a:endParaRPr lang="en-US" sz="900" dirty="0"/>
          </a:p>
        </p:txBody>
      </p:sp>
      <p:sp>
        <p:nvSpPr>
          <p:cNvPr id="7" name="Shape 5"/>
          <p:cNvSpPr/>
          <p:nvPr/>
        </p:nvSpPr>
        <p:spPr>
          <a:xfrm>
            <a:off x="1124712" y="2304288"/>
            <a:ext cx="9942271" cy="7315"/>
          </a:xfrm>
          <a:prstGeom prst="rect">
            <a:avLst/>
          </a:prstGeom>
          <a:solidFill>
            <a:srgbClr val="46554D"/>
          </a:solidFill>
          <a:ln/>
        </p:spPr>
        <p:txBody>
          <a:bodyPr/>
          <a:lstStyle/>
          <a:p>
            <a:endParaRPr lang="en-US"/>
          </a:p>
        </p:txBody>
      </p:sp>
      <p:sp>
        <p:nvSpPr>
          <p:cNvPr id="8" name="Text 6"/>
          <p:cNvSpPr/>
          <p:nvPr/>
        </p:nvSpPr>
        <p:spPr>
          <a:xfrm>
            <a:off x="1143000" y="2432304"/>
            <a:ext cx="9905695" cy="1245870"/>
          </a:xfrm>
          <a:prstGeom prst="rect">
            <a:avLst/>
          </a:prstGeom>
          <a:noFill/>
          <a:ln/>
        </p:spPr>
        <p:txBody>
          <a:bodyPr wrap="square" rtlCol="0" anchor="t">
            <a:normAutofit fontScale="92500" lnSpcReduction="10000"/>
          </a:bodyPr>
          <a:lstStyle/>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SELECT</a:t>
            </a:r>
            <a:r>
              <a:rPr lang="en-US" sz="1250" dirty="0">
                <a:solidFill>
                  <a:srgbClr val="FDF6EA"/>
                </a:solidFill>
                <a:latin typeface="Consolas" pitchFamily="34" charset="0"/>
                <a:ea typeface="Consolas" pitchFamily="34" charset="-122"/>
                <a:cs typeface="Consolas" pitchFamily="34" charset="-120"/>
              </a:rPr>
              <a:t> username, profile.location.city</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FROM</a:t>
            </a:r>
            <a:r>
              <a:rPr lang="en-US" sz="1250" dirty="0">
                <a:solidFill>
                  <a:srgbClr val="FDF6EA"/>
                </a:solidFill>
                <a:latin typeface="Consolas" pitchFamily="34" charset="0"/>
                <a:ea typeface="Consolas" pitchFamily="34" charset="-122"/>
                <a:cs typeface="Consolas" pitchFamily="34" charset="-120"/>
              </a:rPr>
              <a:t> travel_users</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WHERE</a:t>
            </a:r>
            <a:r>
              <a:rPr lang="en-US" sz="1250" dirty="0">
                <a:solidFill>
                  <a:srgbClr val="FDF6EA"/>
                </a:solidFill>
                <a:latin typeface="Consolas" pitchFamily="34" charset="0"/>
                <a:ea typeface="Consolas" pitchFamily="34" charset="-122"/>
                <a:cs typeface="Consolas" pitchFamily="34" charset="-120"/>
              </a:rPr>
              <a:t> type = </a:t>
            </a:r>
            <a:r>
              <a:rPr lang="en-US" sz="1250" dirty="0">
                <a:solidFill>
                  <a:srgbClr val="C9E2D6"/>
                </a:solidFill>
                <a:latin typeface="Consolas" pitchFamily="34" charset="0"/>
                <a:ea typeface="Consolas" pitchFamily="34" charset="-122"/>
                <a:cs typeface="Consolas" pitchFamily="34" charset="-120"/>
              </a:rPr>
              <a:t>'user'</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0D2BF"/>
                </a:solidFill>
                <a:latin typeface="Consolas" pitchFamily="34" charset="0"/>
                <a:ea typeface="Consolas" pitchFamily="34" charset="-122"/>
                <a:cs typeface="Consolas" pitchFamily="34" charset="-120"/>
              </a:rPr>
              <a:t>AND</a:t>
            </a:r>
            <a:r>
              <a:rPr lang="en-US" sz="1250" dirty="0">
                <a:solidFill>
                  <a:srgbClr val="FDF6EA"/>
                </a:solidFill>
                <a:latin typeface="Consolas" pitchFamily="34" charset="0"/>
                <a:ea typeface="Consolas" pitchFamily="34" charset="-122"/>
                <a:cs typeface="Consolas" pitchFamily="34" charset="-120"/>
              </a:rPr>
              <a:t> profile.location.country = </a:t>
            </a:r>
            <a:r>
              <a:rPr lang="en-US" sz="1250" dirty="0">
                <a:solidFill>
                  <a:srgbClr val="C9E2D6"/>
                </a:solidFill>
                <a:latin typeface="Consolas" pitchFamily="34" charset="0"/>
                <a:ea typeface="Consolas" pitchFamily="34" charset="-122"/>
                <a:cs typeface="Consolas" pitchFamily="34" charset="-120"/>
              </a:rPr>
              <a:t>'Việt Nam'</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ORDER BY</a:t>
            </a:r>
            <a:r>
              <a:rPr lang="en-US" sz="1250" dirty="0">
                <a:solidFill>
                  <a:srgbClr val="FDF6EA"/>
                </a:solidFill>
                <a:latin typeface="Consolas" pitchFamily="34" charset="0"/>
                <a:ea typeface="Consolas" pitchFamily="34" charset="-122"/>
                <a:cs typeface="Consolas" pitchFamily="34" charset="-120"/>
              </a:rPr>
              <a:t> stats.followerCount </a:t>
            </a:r>
            <a:r>
              <a:rPr lang="en-US" sz="1250" dirty="0">
                <a:solidFill>
                  <a:srgbClr val="F0D2BF"/>
                </a:solidFill>
                <a:latin typeface="Consolas" pitchFamily="34" charset="0"/>
                <a:ea typeface="Consolas" pitchFamily="34" charset="-122"/>
                <a:cs typeface="Consolas" pitchFamily="34" charset="-120"/>
              </a:rPr>
              <a:t>DESC</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LIMIT</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3E49A"/>
                </a:solidFill>
                <a:latin typeface="Consolas" pitchFamily="34" charset="0"/>
                <a:ea typeface="Consolas" pitchFamily="34" charset="-122"/>
                <a:cs typeface="Consolas" pitchFamily="34" charset="-120"/>
              </a:rPr>
              <a:t>10</a:t>
            </a:r>
            <a:endParaRPr lang="en-US" sz="1250" dirty="0"/>
          </a:p>
        </p:txBody>
      </p:sp>
      <p:sp>
        <p:nvSpPr>
          <p:cNvPr id="9" name="Shape 7"/>
          <p:cNvSpPr/>
          <p:nvPr/>
        </p:nvSpPr>
        <p:spPr>
          <a:xfrm>
            <a:off x="905256" y="4219423"/>
            <a:ext cx="82296" cy="82296"/>
          </a:xfrm>
          <a:prstGeom prst="ellipse">
            <a:avLst/>
          </a:prstGeom>
          <a:solidFill>
            <a:srgbClr val="000000"/>
          </a:solidFill>
          <a:ln/>
        </p:spPr>
        <p:txBody>
          <a:bodyPr/>
          <a:lstStyle/>
          <a:p>
            <a:endParaRPr lang="en-US"/>
          </a:p>
        </p:txBody>
      </p:sp>
      <p:sp>
        <p:nvSpPr>
          <p:cNvPr id="10" name="Text 8"/>
          <p:cNvSpPr/>
          <p:nvPr/>
        </p:nvSpPr>
        <p:spPr>
          <a:xfrm>
            <a:off x="1179576" y="3968953"/>
            <a:ext cx="10143439" cy="583235"/>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Vẫn là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SELECT</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FROM</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WHERE</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ORDER BY</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LIMIT</a:t>
            </a:r>
            <a:endParaRPr lang="en-US" sz="1550" dirty="0">
              <a:latin typeface="Times New Roman" panose="02020603050405020304" pitchFamily="18" charset="0"/>
              <a:cs typeface="Times New Roman" panose="02020603050405020304" pitchFamily="18" charset="0"/>
            </a:endParaRPr>
          </a:p>
        </p:txBody>
      </p:sp>
      <p:sp>
        <p:nvSpPr>
          <p:cNvPr id="11" name="Shape 9"/>
          <p:cNvSpPr/>
          <p:nvPr/>
        </p:nvSpPr>
        <p:spPr>
          <a:xfrm>
            <a:off x="905256" y="4802657"/>
            <a:ext cx="82296" cy="82296"/>
          </a:xfrm>
          <a:prstGeom prst="ellipse">
            <a:avLst/>
          </a:prstGeom>
          <a:solidFill>
            <a:srgbClr val="000000"/>
          </a:solidFill>
          <a:ln/>
        </p:spPr>
        <p:txBody>
          <a:bodyPr/>
          <a:lstStyle/>
          <a:p>
            <a:endParaRPr lang="en-US"/>
          </a:p>
        </p:txBody>
      </p:sp>
      <p:sp>
        <p:nvSpPr>
          <p:cNvPr id="12" name="Text 10"/>
          <p:cNvSpPr/>
          <p:nvPr/>
        </p:nvSpPr>
        <p:spPr>
          <a:xfrm>
            <a:off x="1179576" y="4552188"/>
            <a:ext cx="10143439" cy="583235"/>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Điểm mới duy nhất: truy cập trường lồng nhau bằng </a:t>
            </a:r>
            <a:r>
              <a:rPr lang="en-US" sz="1550" b="1" dirty="0">
                <a:solidFill>
                  <a:srgbClr val="000000"/>
                </a:solidFill>
                <a:latin typeface="Times New Roman" panose="02020603050405020304" pitchFamily="18" charset="0"/>
                <a:ea typeface="+mn-lt" pitchFamily="34" charset="-122"/>
                <a:cs typeface="Times New Roman" panose="02020603050405020304" pitchFamily="18" charset="0"/>
              </a:rPr>
              <a:t>dấu chấm</a:t>
            </a: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 —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profile.location.city</a:t>
            </a:r>
            <a:endParaRPr lang="en-US" sz="1550" dirty="0">
              <a:latin typeface="Times New Roman" panose="02020603050405020304" pitchFamily="18" charset="0"/>
              <a:cs typeface="Times New Roman" panose="02020603050405020304" pitchFamily="18" charset="0"/>
            </a:endParaRPr>
          </a:p>
        </p:txBody>
      </p:sp>
      <p:sp>
        <p:nvSpPr>
          <p:cNvPr id="13" name="Shape 11"/>
          <p:cNvSpPr/>
          <p:nvPr/>
        </p:nvSpPr>
        <p:spPr>
          <a:xfrm>
            <a:off x="905256" y="5385892"/>
            <a:ext cx="82296" cy="82296"/>
          </a:xfrm>
          <a:prstGeom prst="ellipse">
            <a:avLst/>
          </a:prstGeom>
          <a:solidFill>
            <a:srgbClr val="000000"/>
          </a:solidFill>
          <a:ln/>
        </p:spPr>
        <p:txBody>
          <a:bodyPr/>
          <a:lstStyle/>
          <a:p>
            <a:endParaRPr lang="en-US"/>
          </a:p>
        </p:txBody>
      </p:sp>
      <p:sp>
        <p:nvSpPr>
          <p:cNvPr id="14" name="Text 12"/>
          <p:cNvSpPr/>
          <p:nvPr/>
        </p:nvSpPr>
        <p:spPr>
          <a:xfrm>
            <a:off x="1179576" y="5135423"/>
            <a:ext cx="10143439" cy="583235"/>
          </a:xfrm>
          <a:prstGeom prst="rect">
            <a:avLst/>
          </a:prstGeom>
          <a:noFill/>
          <a:ln/>
        </p:spPr>
        <p:txBody>
          <a:bodyPr wrap="square" rtlCol="0" anchor="ctr">
            <a:normAutofit/>
          </a:bodyPr>
          <a:lstStyle/>
          <a:p>
            <a:pPr marL="0" indent="0">
              <a:buNone/>
            </a:pPr>
            <a:r>
              <a:rPr lang="en-US" sz="1550" dirty="0">
                <a:solidFill>
                  <a:srgbClr val="2C3932"/>
                </a:solidFill>
                <a:latin typeface="Times New Roman" panose="02020603050405020304" pitchFamily="18" charset="0"/>
                <a:ea typeface="+mn-lt" pitchFamily="34" charset="-122"/>
                <a:cs typeface="Times New Roman" panose="02020603050405020304" pitchFamily="18" charset="0"/>
              </a:rPr>
              <a:t>Giống như đường dẫn thư mục </a:t>
            </a:r>
            <a:r>
              <a:rPr lang="en-US" sz="1400" dirty="0">
                <a:solidFill>
                  <a:srgbClr val="2C3932"/>
                </a:solidFill>
                <a:latin typeface="Times New Roman" panose="02020603050405020304" pitchFamily="18" charset="0"/>
                <a:ea typeface="Consolas" pitchFamily="34" charset="-122"/>
                <a:cs typeface="Times New Roman" panose="02020603050405020304" pitchFamily="18" charset="0"/>
              </a:rPr>
              <a:t>Documents/Ảnh/Dulich/hoian.jpg</a:t>
            </a:r>
            <a:endParaRPr lang="en-US" sz="1550" dirty="0">
              <a:latin typeface="Times New Roman" panose="02020603050405020304" pitchFamily="18" charset="0"/>
              <a:cs typeface="Times New Roman" panose="02020603050405020304" pitchFamily="18" charset="0"/>
            </a:endParaRPr>
          </a:p>
        </p:txBody>
      </p:sp>
      <p:sp>
        <p:nvSpPr>
          <p:cNvPr id="15" name="Shape 13"/>
          <p:cNvSpPr/>
          <p:nvPr/>
        </p:nvSpPr>
        <p:spPr>
          <a:xfrm>
            <a:off x="868680" y="5961888"/>
            <a:ext cx="10454335" cy="7315"/>
          </a:xfrm>
          <a:prstGeom prst="rect">
            <a:avLst/>
          </a:prstGeom>
          <a:solidFill>
            <a:srgbClr val="C9CFCB"/>
          </a:solidFill>
          <a:ln/>
        </p:spPr>
        <p:txBody>
          <a:bodyPr/>
          <a:lstStyle/>
          <a:p>
            <a:endParaRPr lang="en-US"/>
          </a:p>
        </p:txBody>
      </p:sp>
      <p:sp>
        <p:nvSpPr>
          <p:cNvPr id="16" name="Text 14"/>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5 · Truy vấn</a:t>
            </a:r>
            <a:endParaRPr lang="en-US" sz="900" dirty="0"/>
          </a:p>
        </p:txBody>
      </p:sp>
      <p:sp>
        <p:nvSpPr>
          <p:cNvPr id="17" name="Text 15"/>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5 · CÁCH TRUY VẤN   ·   VÍ DỤ PHỨC TẠP</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Bảng tin: lấy bài viết của những người tôi theo dõi</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905256" y="1975104"/>
            <a:ext cx="5154016" cy="935888"/>
          </a:xfrm>
          <a:prstGeom prst="roundRect">
            <a:avLst>
              <a:gd name="adj" fmla="val 5862"/>
            </a:avLst>
          </a:prstGeom>
          <a:solidFill>
            <a:srgbClr val="FDF6EA"/>
          </a:solidFill>
          <a:ln w="9525">
            <a:solidFill>
              <a:srgbClr val="C9CFCB"/>
            </a:solidFill>
            <a:prstDash val="solid"/>
          </a:ln>
        </p:spPr>
        <p:txBody>
          <a:bodyPr/>
          <a:lstStyle/>
          <a:p>
            <a:endParaRPr lang="en-US"/>
          </a:p>
        </p:txBody>
      </p:sp>
      <p:sp>
        <p:nvSpPr>
          <p:cNvPr id="6" name="Text 4"/>
          <p:cNvSpPr/>
          <p:nvPr/>
        </p:nvSpPr>
        <p:spPr>
          <a:xfrm>
            <a:off x="1106424" y="2084832"/>
            <a:ext cx="4751680" cy="292608"/>
          </a:xfrm>
          <a:prstGeom prst="rect">
            <a:avLst/>
          </a:prstGeom>
          <a:noFill/>
          <a:ln/>
        </p:spPr>
        <p:txBody>
          <a:bodyPr wrap="square" rtlCol="0" anchor="ctr"/>
          <a:lstStyle/>
          <a:p>
            <a:pPr marL="0" indent="0">
              <a:buNone/>
            </a:pPr>
            <a:r>
              <a:rPr lang="en-US" sz="1500" b="1" dirty="0">
                <a:solidFill>
                  <a:srgbClr val="000000"/>
                </a:solidFill>
                <a:latin typeface="+mj-lt" pitchFamily="34" charset="0"/>
                <a:ea typeface="+mj-lt" pitchFamily="34" charset="-122"/>
                <a:cs typeface="+mj-lt" pitchFamily="34" charset="-120"/>
              </a:rPr>
              <a:t>Bước 1</a:t>
            </a:r>
            <a:endParaRPr lang="en-US" sz="1500" dirty="0"/>
          </a:p>
        </p:txBody>
      </p:sp>
      <p:sp>
        <p:nvSpPr>
          <p:cNvPr id="7" name="Text 5"/>
          <p:cNvSpPr/>
          <p:nvPr/>
        </p:nvSpPr>
        <p:spPr>
          <a:xfrm>
            <a:off x="1106424" y="2395728"/>
            <a:ext cx="4751680" cy="405536"/>
          </a:xfrm>
          <a:prstGeom prst="rect">
            <a:avLst/>
          </a:prstGeom>
          <a:noFill/>
          <a:ln/>
        </p:spPr>
        <p:txBody>
          <a:bodyPr wrap="square" rtlCol="0" anchor="t">
            <a:noAutofit/>
          </a:bodyPr>
          <a:lstStyle/>
          <a:p>
            <a:pPr marL="0" indent="0">
              <a:buNone/>
            </a:pPr>
            <a:r>
              <a:rPr lang="en-US" sz="1200" dirty="0">
                <a:solidFill>
                  <a:srgbClr val="6E7C75"/>
                </a:solidFill>
                <a:latin typeface="Times New Roman" panose="02020603050405020304" pitchFamily="18" charset="0"/>
                <a:ea typeface="+mn-lt" pitchFamily="34" charset="-122"/>
                <a:cs typeface="Times New Roman" panose="02020603050405020304" pitchFamily="18" charset="0"/>
              </a:rPr>
              <a:t>Tôi đang theo dõi những ai?</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6E7C75"/>
                </a:solidFill>
                <a:latin typeface="Times New Roman" panose="02020603050405020304" pitchFamily="18" charset="0"/>
                <a:ea typeface="+mn-lt" pitchFamily="34" charset="-122"/>
                <a:cs typeface="Times New Roman" panose="02020603050405020304" pitchFamily="18" charset="0"/>
              </a:rPr>
              <a:t>→ tra bucket travel_social</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6132424" y="1975104"/>
            <a:ext cx="5154016" cy="935888"/>
          </a:xfrm>
          <a:prstGeom prst="roundRect">
            <a:avLst>
              <a:gd name="adj" fmla="val 5862"/>
            </a:avLst>
          </a:prstGeom>
          <a:solidFill>
            <a:srgbClr val="FDF6EA"/>
          </a:solidFill>
          <a:ln w="9525">
            <a:solidFill>
              <a:srgbClr val="C9CFCB"/>
            </a:solidFill>
            <a:prstDash val="solid"/>
          </a:ln>
        </p:spPr>
        <p:txBody>
          <a:bodyPr/>
          <a:lstStyle/>
          <a:p>
            <a:endParaRPr lang="en-US"/>
          </a:p>
        </p:txBody>
      </p:sp>
      <p:sp>
        <p:nvSpPr>
          <p:cNvPr id="9" name="Text 7"/>
          <p:cNvSpPr/>
          <p:nvPr/>
        </p:nvSpPr>
        <p:spPr>
          <a:xfrm>
            <a:off x="6333592" y="2084832"/>
            <a:ext cx="4751680" cy="292608"/>
          </a:xfrm>
          <a:prstGeom prst="rect">
            <a:avLst/>
          </a:prstGeom>
          <a:noFill/>
          <a:ln/>
        </p:spPr>
        <p:txBody>
          <a:bodyPr wrap="square" rtlCol="0" anchor="ctr"/>
          <a:lstStyle/>
          <a:p>
            <a:pPr marL="0" indent="0">
              <a:buNone/>
            </a:pPr>
            <a:r>
              <a:rPr lang="en-US" sz="1500" b="1" dirty="0">
                <a:solidFill>
                  <a:srgbClr val="000000"/>
                </a:solidFill>
                <a:latin typeface="+mj-lt" pitchFamily="34" charset="0"/>
                <a:ea typeface="+mj-lt" pitchFamily="34" charset="-122"/>
                <a:cs typeface="+mj-lt" pitchFamily="34" charset="-120"/>
              </a:rPr>
              <a:t>Bước 2</a:t>
            </a:r>
            <a:endParaRPr lang="en-US" sz="1500" dirty="0"/>
          </a:p>
        </p:txBody>
      </p:sp>
      <p:sp>
        <p:nvSpPr>
          <p:cNvPr id="10" name="Text 8"/>
          <p:cNvSpPr/>
          <p:nvPr/>
        </p:nvSpPr>
        <p:spPr>
          <a:xfrm>
            <a:off x="6333592" y="2395728"/>
            <a:ext cx="4751680" cy="405536"/>
          </a:xfrm>
          <a:prstGeom prst="rect">
            <a:avLst/>
          </a:prstGeom>
          <a:noFill/>
          <a:ln/>
        </p:spPr>
        <p:txBody>
          <a:bodyPr wrap="square" rtlCol="0" anchor="t">
            <a:normAutofit fontScale="92500" lnSpcReduction="20000"/>
          </a:bodyPr>
          <a:lstStyle/>
          <a:p>
            <a:pPr marL="0" indent="0">
              <a:buNone/>
            </a:pPr>
            <a:r>
              <a:rPr lang="en-US" sz="1150" dirty="0">
                <a:solidFill>
                  <a:srgbClr val="6E7C75"/>
                </a:solidFill>
                <a:latin typeface="Times New Roman" panose="02020603050405020304" pitchFamily="18" charset="0"/>
                <a:ea typeface="+mn-lt" pitchFamily="34" charset="-122"/>
                <a:cs typeface="Times New Roman" panose="02020603050405020304" pitchFamily="18" charset="0"/>
              </a:rPr>
              <a:t>Lấy </a:t>
            </a:r>
            <a:r>
              <a:rPr lang="en-US" sz="1300" dirty="0">
                <a:solidFill>
                  <a:srgbClr val="6E7C75"/>
                </a:solidFill>
                <a:latin typeface="Times New Roman" panose="02020603050405020304" pitchFamily="18" charset="0"/>
                <a:ea typeface="+mn-lt" pitchFamily="34" charset="-122"/>
                <a:cs typeface="Times New Roman" panose="02020603050405020304" pitchFamily="18" charset="0"/>
              </a:rPr>
              <a:t>bài</a:t>
            </a:r>
            <a:r>
              <a:rPr lang="en-US" sz="1150" dirty="0">
                <a:solidFill>
                  <a:srgbClr val="6E7C75"/>
                </a:solidFill>
                <a:latin typeface="Times New Roman" panose="02020603050405020304" pitchFamily="18" charset="0"/>
                <a:ea typeface="+mn-lt" pitchFamily="34" charset="-122"/>
                <a:cs typeface="Times New Roman" panose="02020603050405020304" pitchFamily="18" charset="0"/>
              </a:rPr>
              <a:t> viết của những người đó</a:t>
            </a:r>
            <a:endParaRPr lang="en-US" sz="1150" dirty="0">
              <a:latin typeface="Times New Roman" panose="02020603050405020304" pitchFamily="18" charset="0"/>
              <a:cs typeface="Times New Roman" panose="02020603050405020304" pitchFamily="18" charset="0"/>
            </a:endParaRPr>
          </a:p>
          <a:p>
            <a:pPr marL="0" indent="0">
              <a:buNone/>
            </a:pPr>
            <a:r>
              <a:rPr lang="en-US" sz="1150" dirty="0">
                <a:solidFill>
                  <a:srgbClr val="6E7C75"/>
                </a:solidFill>
                <a:latin typeface="Times New Roman" panose="02020603050405020304" pitchFamily="18" charset="0"/>
                <a:ea typeface="+mn-lt" pitchFamily="34" charset="-122"/>
                <a:cs typeface="Times New Roman" panose="02020603050405020304" pitchFamily="18" charset="0"/>
              </a:rPr>
              <a:t>→ tra bucket travel_content</a:t>
            </a:r>
            <a:endParaRPr lang="en-US" sz="1150" dirty="0">
              <a:latin typeface="Times New Roman" panose="02020603050405020304" pitchFamily="18" charset="0"/>
              <a:cs typeface="Times New Roman" panose="02020603050405020304" pitchFamily="18" charset="0"/>
            </a:endParaRPr>
          </a:p>
        </p:txBody>
      </p:sp>
      <p:sp>
        <p:nvSpPr>
          <p:cNvPr id="11" name="Shape 9"/>
          <p:cNvSpPr/>
          <p:nvPr/>
        </p:nvSpPr>
        <p:spPr>
          <a:xfrm>
            <a:off x="868680" y="3073756"/>
            <a:ext cx="10454335" cy="2115922"/>
          </a:xfrm>
          <a:prstGeom prst="roundRect">
            <a:avLst>
              <a:gd name="adj" fmla="val 2161"/>
            </a:avLst>
          </a:prstGeom>
          <a:solidFill>
            <a:srgbClr val="2C3932"/>
          </a:solidFill>
          <a:ln/>
        </p:spPr>
        <p:txBody>
          <a:bodyPr/>
          <a:lstStyle/>
          <a:p>
            <a:endParaRPr lang="en-US"/>
          </a:p>
        </p:txBody>
      </p:sp>
      <p:sp>
        <p:nvSpPr>
          <p:cNvPr id="12" name="Text 10"/>
          <p:cNvSpPr/>
          <p:nvPr/>
        </p:nvSpPr>
        <p:spPr>
          <a:xfrm>
            <a:off x="1124712" y="3128620"/>
            <a:ext cx="9942271" cy="256032"/>
          </a:xfrm>
          <a:prstGeom prst="rect">
            <a:avLst/>
          </a:prstGeom>
          <a:noFill/>
          <a:ln/>
        </p:spPr>
        <p:txBody>
          <a:bodyPr wrap="square" rtlCol="0" anchor="ctr"/>
          <a:lstStyle/>
          <a:p>
            <a:pPr marL="0" indent="0">
              <a:buNone/>
            </a:pPr>
            <a:r>
              <a:rPr lang="en-US" sz="900" kern="0" spc="100" dirty="0">
                <a:solidFill>
                  <a:srgbClr val="9DACA4"/>
                </a:solidFill>
                <a:latin typeface="+mn-lt" pitchFamily="34" charset="0"/>
                <a:ea typeface="+mn-lt" pitchFamily="34" charset="-122"/>
                <a:cs typeface="+mn-lt" pitchFamily="34" charset="-120"/>
              </a:rPr>
              <a:t>BƯỚC 1 ĐƯỢC VIẾT LỒNG VÀO TRONG NGOẶC — GỌI LÀ TRUY VẤN CON</a:t>
            </a:r>
            <a:endParaRPr lang="en-US" sz="900" dirty="0"/>
          </a:p>
        </p:txBody>
      </p:sp>
      <p:sp>
        <p:nvSpPr>
          <p:cNvPr id="13" name="Shape 11"/>
          <p:cNvSpPr/>
          <p:nvPr/>
        </p:nvSpPr>
        <p:spPr>
          <a:xfrm>
            <a:off x="1124712" y="3402940"/>
            <a:ext cx="9942271" cy="7315"/>
          </a:xfrm>
          <a:prstGeom prst="rect">
            <a:avLst/>
          </a:prstGeom>
          <a:solidFill>
            <a:srgbClr val="46554D"/>
          </a:solidFill>
          <a:ln/>
        </p:spPr>
        <p:txBody>
          <a:bodyPr/>
          <a:lstStyle/>
          <a:p>
            <a:endParaRPr lang="en-US"/>
          </a:p>
        </p:txBody>
      </p:sp>
      <p:sp>
        <p:nvSpPr>
          <p:cNvPr id="14" name="Text 12"/>
          <p:cNvSpPr/>
          <p:nvPr/>
        </p:nvSpPr>
        <p:spPr>
          <a:xfrm>
            <a:off x="1143000" y="3530956"/>
            <a:ext cx="9905695" cy="1530706"/>
          </a:xfrm>
          <a:prstGeom prst="rect">
            <a:avLst/>
          </a:prstGeom>
          <a:noFill/>
          <a:ln/>
        </p:spPr>
        <p:txBody>
          <a:bodyPr wrap="square" rtlCol="0" anchor="t">
            <a:normAutofit/>
          </a:bodyPr>
          <a:lstStyle/>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SELECT</a:t>
            </a:r>
            <a:r>
              <a:rPr lang="en-US" sz="1250" dirty="0">
                <a:solidFill>
                  <a:srgbClr val="FDF6EA"/>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FROM</a:t>
            </a:r>
            <a:r>
              <a:rPr lang="en-US" sz="1250" dirty="0">
                <a:solidFill>
                  <a:srgbClr val="FDF6EA"/>
                </a:solidFill>
                <a:latin typeface="Consolas" pitchFamily="34" charset="0"/>
                <a:ea typeface="Consolas" pitchFamily="34" charset="-122"/>
                <a:cs typeface="Consolas" pitchFamily="34" charset="-120"/>
              </a:rPr>
              <a:t> travel_content</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WHERE</a:t>
            </a:r>
            <a:r>
              <a:rPr lang="en-US" sz="1250" dirty="0">
                <a:solidFill>
                  <a:srgbClr val="FDF6EA"/>
                </a:solidFill>
                <a:latin typeface="Consolas" pitchFamily="34" charset="0"/>
                <a:ea typeface="Consolas" pitchFamily="34" charset="-122"/>
                <a:cs typeface="Consolas" pitchFamily="34" charset="-120"/>
              </a:rPr>
              <a:t> type = </a:t>
            </a:r>
            <a:r>
              <a:rPr lang="en-US" sz="1250" dirty="0">
                <a:solidFill>
                  <a:srgbClr val="C9E2D6"/>
                </a:solidFill>
                <a:latin typeface="Consolas" pitchFamily="34" charset="0"/>
                <a:ea typeface="Consolas" pitchFamily="34" charset="-122"/>
                <a:cs typeface="Consolas" pitchFamily="34" charset="-120"/>
              </a:rPr>
              <a:t>'post'</a:t>
            </a:r>
            <a:endParaRPr lang="en-US" sz="1250" dirty="0"/>
          </a:p>
          <a:p>
            <a:pPr marL="0" indent="0">
              <a:lnSpc>
                <a:spcPct val="114000"/>
              </a:lnSpc>
              <a:buNone/>
            </a:pP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0D2BF"/>
                </a:solidFill>
                <a:latin typeface="Consolas" pitchFamily="34" charset="0"/>
                <a:ea typeface="Consolas" pitchFamily="34" charset="-122"/>
                <a:cs typeface="Consolas" pitchFamily="34" charset="-120"/>
              </a:rPr>
              <a:t>AND</a:t>
            </a:r>
            <a:r>
              <a:rPr lang="en-US" sz="1250" dirty="0">
                <a:solidFill>
                  <a:srgbClr val="FDF6EA"/>
                </a:solidFill>
                <a:latin typeface="Consolas" pitchFamily="34" charset="0"/>
                <a:ea typeface="Consolas" pitchFamily="34" charset="-122"/>
                <a:cs typeface="Consolas" pitchFamily="34" charset="-120"/>
              </a:rPr>
              <a:t> authorId </a:t>
            </a:r>
            <a:r>
              <a:rPr lang="en-US" sz="1250" dirty="0">
                <a:solidFill>
                  <a:srgbClr val="F0D2BF"/>
                </a:solidFill>
                <a:latin typeface="Consolas" pitchFamily="34" charset="0"/>
                <a:ea typeface="Consolas" pitchFamily="34" charset="-122"/>
                <a:cs typeface="Consolas" pitchFamily="34" charset="-120"/>
              </a:rPr>
              <a:t>IN</a:t>
            </a:r>
            <a:r>
              <a:rPr lang="en-US" sz="1250" dirty="0">
                <a:solidFill>
                  <a:srgbClr val="FDF6EA"/>
                </a:solidFill>
                <a:latin typeface="Consolas" pitchFamily="34" charset="0"/>
                <a:ea typeface="Consolas" pitchFamily="34" charset="-122"/>
                <a:cs typeface="Consolas" pitchFamily="34" charset="-120"/>
              </a:rPr>
              <a:t> ( danh sách người tôi đang theo dõi )</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ORDER BY</a:t>
            </a:r>
            <a:r>
              <a:rPr lang="en-US" sz="1250" dirty="0">
                <a:solidFill>
                  <a:srgbClr val="FDF6EA"/>
                </a:solidFill>
                <a:latin typeface="Consolas" pitchFamily="34" charset="0"/>
                <a:ea typeface="Consolas" pitchFamily="34" charset="-122"/>
                <a:cs typeface="Consolas" pitchFamily="34" charset="-120"/>
              </a:rPr>
              <a:t> createdAt </a:t>
            </a:r>
            <a:r>
              <a:rPr lang="en-US" sz="1250" dirty="0">
                <a:solidFill>
                  <a:srgbClr val="F0D2BF"/>
                </a:solidFill>
                <a:latin typeface="Consolas" pitchFamily="34" charset="0"/>
                <a:ea typeface="Consolas" pitchFamily="34" charset="-122"/>
                <a:cs typeface="Consolas" pitchFamily="34" charset="-120"/>
              </a:rPr>
              <a:t>DESC</a:t>
            </a:r>
            <a:endParaRPr lang="en-US" sz="1250" dirty="0"/>
          </a:p>
          <a:p>
            <a:pPr marL="0" indent="0">
              <a:lnSpc>
                <a:spcPct val="114000"/>
              </a:lnSpc>
              <a:buNone/>
            </a:pPr>
            <a:r>
              <a:rPr lang="en-US" sz="1250" dirty="0">
                <a:solidFill>
                  <a:srgbClr val="F0D2BF"/>
                </a:solidFill>
                <a:latin typeface="Consolas" pitchFamily="34" charset="0"/>
                <a:ea typeface="Consolas" pitchFamily="34" charset="-122"/>
                <a:cs typeface="Consolas" pitchFamily="34" charset="-120"/>
              </a:rPr>
              <a:t>LIMIT</a:t>
            </a:r>
            <a:r>
              <a:rPr lang="en-US" sz="1250" dirty="0">
                <a:solidFill>
                  <a:srgbClr val="FDF6EA"/>
                </a:solidFill>
                <a:latin typeface="Consolas" pitchFamily="34" charset="0"/>
                <a:ea typeface="Consolas" pitchFamily="34" charset="-122"/>
                <a:cs typeface="Consolas" pitchFamily="34" charset="-120"/>
              </a:rPr>
              <a:t> </a:t>
            </a:r>
            <a:r>
              <a:rPr lang="en-US" sz="1250" dirty="0">
                <a:solidFill>
                  <a:srgbClr val="F3E49A"/>
                </a:solidFill>
                <a:latin typeface="Consolas" pitchFamily="34" charset="0"/>
                <a:ea typeface="Consolas" pitchFamily="34" charset="-122"/>
                <a:cs typeface="Consolas" pitchFamily="34" charset="-120"/>
              </a:rPr>
              <a:t>20</a:t>
            </a:r>
            <a:endParaRPr lang="en-US" sz="1250" dirty="0"/>
          </a:p>
        </p:txBody>
      </p:sp>
      <p:sp>
        <p:nvSpPr>
          <p:cNvPr id="15" name="Shape 13"/>
          <p:cNvSpPr/>
          <p:nvPr/>
        </p:nvSpPr>
        <p:spPr>
          <a:xfrm>
            <a:off x="868680" y="5961888"/>
            <a:ext cx="10454335" cy="7315"/>
          </a:xfrm>
          <a:prstGeom prst="rect">
            <a:avLst/>
          </a:prstGeom>
          <a:solidFill>
            <a:srgbClr val="C9CFCB"/>
          </a:solidFill>
          <a:ln/>
        </p:spPr>
        <p:txBody>
          <a:bodyPr/>
          <a:lstStyle/>
          <a:p>
            <a:endParaRPr lang="en-US"/>
          </a:p>
        </p:txBody>
      </p:sp>
      <p:sp>
        <p:nvSpPr>
          <p:cNvPr id="16" name="Text 14"/>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5 · Truy vấn</a:t>
            </a:r>
            <a:endParaRPr lang="en-US" sz="900" dirty="0"/>
          </a:p>
        </p:txBody>
      </p:sp>
      <p:sp>
        <p:nvSpPr>
          <p:cNvPr id="17" name="Text 15"/>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PHẦN 6 · DEMO   ·   NỘI DUNG</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Demo trực tiếp</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2124598169"/>
              </p:ext>
            </p:extLst>
          </p:nvPr>
        </p:nvGraphicFramePr>
        <p:xfrm>
          <a:off x="868680" y="1975104"/>
          <a:ext cx="10454335" cy="2115922"/>
        </p:xfrm>
        <a:graphic>
          <a:graphicData uri="http://schemas.openxmlformats.org/drawingml/2006/table">
            <a:tbl>
              <a:tblPr/>
              <a:tblGrid>
                <a:gridCol w="670551">
                  <a:extLst>
                    <a:ext uri="{9D8B030D-6E8A-4147-A177-3AD203B41FA5}">
                      <a16:colId xmlns:a16="http://schemas.microsoft.com/office/drawing/2014/main" val="20000"/>
                    </a:ext>
                  </a:extLst>
                </a:gridCol>
                <a:gridCol w="5722034">
                  <a:extLst>
                    <a:ext uri="{9D8B030D-6E8A-4147-A177-3AD203B41FA5}">
                      <a16:colId xmlns:a16="http://schemas.microsoft.com/office/drawing/2014/main" val="20001"/>
                    </a:ext>
                  </a:extLst>
                </a:gridCol>
                <a:gridCol w="4061750">
                  <a:extLst>
                    <a:ext uri="{9D8B030D-6E8A-4147-A177-3AD203B41FA5}">
                      <a16:colId xmlns:a16="http://schemas.microsoft.com/office/drawing/2014/main" val="20002"/>
                    </a:ext>
                  </a:extLst>
                </a:gridCol>
              </a:tblGrid>
              <a:tr h="325526">
                <a:tc>
                  <a:txBody>
                    <a:bodyPr/>
                    <a:lstStyle/>
                    <a:p>
                      <a:pPr marL="0" indent="0">
                        <a:buNone/>
                      </a:pP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THAO TÁC</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1050" b="1" kern="0" spc="60" dirty="0">
                          <a:solidFill>
                            <a:srgbClr val="000000"/>
                          </a:solidFill>
                          <a:latin typeface="Times New Roman" panose="02020603050405020304" pitchFamily="18" charset="0"/>
                          <a:ea typeface="+mn-lt" pitchFamily="34" charset="-122"/>
                          <a:cs typeface="Times New Roman" panose="02020603050405020304" pitchFamily="18" charset="0"/>
                        </a:rPr>
                        <a:t>CHO THẤY ĐIỀU GÌ</a:t>
                      </a:r>
                      <a:endParaRPr lang="en-US" sz="1050" dirty="0">
                        <a:latin typeface="Times New Roman" panose="02020603050405020304" pitchFamily="18" charset="0"/>
                        <a:ea typeface="+mn-lt" charset="0"/>
                        <a:cs typeface="Times New Roman" panose="02020603050405020304" pitchFamily="18"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447599">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1</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Giao diện web — đăng bài, theo dõi người khác</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ứng dụng chạy thật</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7599">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2</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Couchbase Console — mở document vừa tạo</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dữ liệu JSON thật bên dưới</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7599">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3</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Times New Roman" panose="02020603050405020304" pitchFamily="18" charset="0"/>
                          <a:ea typeface="+mn-lt" pitchFamily="34" charset="-122"/>
                          <a:cs typeface="Times New Roman" panose="02020603050405020304" pitchFamily="18" charset="0"/>
                        </a:rPr>
                        <a:t>Bấm Theo dõi → xem khoá connection::A::B xuất hiện</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mẹo đặt khoá ở phần 4</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7599">
                <a:tc>
                  <a:txBody>
                    <a:bodyPr/>
                    <a:lstStyle/>
                    <a:p>
                      <a:pPr marL="0" indent="0">
                        <a:buNone/>
                      </a:pPr>
                      <a:r>
                        <a:rPr lang="en-US" sz="1150" dirty="0">
                          <a:solidFill>
                            <a:srgbClr val="000000"/>
                          </a:solidFill>
                          <a:latin typeface="Times New Roman" panose="02020603050405020304" pitchFamily="18" charset="0"/>
                          <a:ea typeface="Consolas" pitchFamily="34" charset="-122"/>
                          <a:cs typeface="Times New Roman" panose="02020603050405020304" pitchFamily="18" charset="0"/>
                        </a:rPr>
                        <a:t>4</a:t>
                      </a:r>
                      <a:endParaRPr lang="en-US" sz="1150" dirty="0">
                        <a:latin typeface="Times New Roman" panose="02020603050405020304" pitchFamily="18" charset="0"/>
                        <a:ea typeface="Consolas"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Query Workbench — chạy thử câu N1QL</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250" dirty="0">
                          <a:solidFill>
                            <a:srgbClr val="2C3932"/>
                          </a:solidFill>
                          <a:latin typeface="Times New Roman" panose="02020603050405020304" pitchFamily="18" charset="0"/>
                          <a:ea typeface="+mn-lt" pitchFamily="34" charset="-122"/>
                          <a:cs typeface="Times New Roman" panose="02020603050405020304" pitchFamily="18" charset="0"/>
                        </a:rPr>
                        <a:t>viết SQL trên dữ liệu JSON</a:t>
                      </a:r>
                      <a:endParaRPr lang="en-US" sz="1250" dirty="0">
                        <a:latin typeface="Times New Roman" panose="02020603050405020304" pitchFamily="18" charset="0"/>
                        <a:ea typeface="+mn-lt" charset="0"/>
                        <a:cs typeface="Times New Roman" panose="02020603050405020304" pitchFamily="18"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868680" y="4253789"/>
            <a:ext cx="10454335" cy="773125"/>
          </a:xfrm>
          <a:prstGeom prst="roundRect">
            <a:avLst>
              <a:gd name="adj" fmla="val 7096"/>
            </a:avLst>
          </a:prstGeom>
          <a:solidFill>
            <a:srgbClr val="F0D2BF"/>
          </a:solidFill>
          <a:ln/>
        </p:spPr>
        <p:txBody>
          <a:bodyPr/>
          <a:lstStyle/>
          <a:p>
            <a:endParaRPr lang="en-US"/>
          </a:p>
        </p:txBody>
      </p:sp>
      <p:sp>
        <p:nvSpPr>
          <p:cNvPr id="7" name="Text 4"/>
          <p:cNvSpPr/>
          <p:nvPr/>
        </p:nvSpPr>
        <p:spPr>
          <a:xfrm>
            <a:off x="1143000" y="4299509"/>
            <a:ext cx="9905695" cy="681685"/>
          </a:xfrm>
          <a:prstGeom prst="rect">
            <a:avLst/>
          </a:prstGeom>
          <a:noFill/>
          <a:ln/>
        </p:spPr>
        <p:txBody>
          <a:bodyPr wrap="square" rtlCol="0" anchor="ctr">
            <a:normAutofit/>
          </a:bodyPr>
          <a:lstStyle/>
          <a:p>
            <a:pPr marL="0" indent="0">
              <a:buNone/>
            </a:pP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Chuẩn bị trước: </a:t>
            </a:r>
            <a:r>
              <a:rPr lang="en-US" sz="1450" b="1" dirty="0">
                <a:solidFill>
                  <a:srgbClr val="000000"/>
                </a:solidFill>
                <a:latin typeface="Times New Roman" panose="02020603050405020304" pitchFamily="18" charset="0"/>
                <a:ea typeface="+mn-lt" pitchFamily="34" charset="-122"/>
                <a:cs typeface="Times New Roman" panose="02020603050405020304" pitchFamily="18" charset="0"/>
              </a:rPr>
              <a:t>chụp màn hình sẵn cả 4 bước</a:t>
            </a:r>
            <a:r>
              <a:rPr lang="en-US" sz="1450" dirty="0">
                <a:solidFill>
                  <a:srgbClr val="2C3932"/>
                </a:solidFill>
                <a:latin typeface="Times New Roman" panose="02020603050405020304" pitchFamily="18" charset="0"/>
                <a:ea typeface="+mn-lt" pitchFamily="34" charset="-122"/>
                <a:cs typeface="Times New Roman" panose="02020603050405020304" pitchFamily="18" charset="0"/>
              </a:rPr>
              <a:t> từ hôm trước, phòng khi máy hoặc mạng có sự cố.</a:t>
            </a:r>
            <a:endParaRPr lang="en-US" sz="1450" dirty="0">
              <a:latin typeface="Times New Roman" panose="02020603050405020304" pitchFamily="18" charset="0"/>
              <a:cs typeface="Times New Roman" panose="02020603050405020304" pitchFamily="18" charset="0"/>
            </a:endParaRPr>
          </a:p>
        </p:txBody>
      </p:sp>
      <p:sp>
        <p:nvSpPr>
          <p:cNvPr id="8" name="Shape 5"/>
          <p:cNvSpPr/>
          <p:nvPr/>
        </p:nvSpPr>
        <p:spPr>
          <a:xfrm>
            <a:off x="868680" y="5961888"/>
            <a:ext cx="10454335" cy="7315"/>
          </a:xfrm>
          <a:prstGeom prst="rect">
            <a:avLst/>
          </a:prstGeom>
          <a:solidFill>
            <a:srgbClr val="C9CFCB"/>
          </a:solidFill>
          <a:ln/>
        </p:spPr>
        <p:txBody>
          <a:bodyPr/>
          <a:lstStyle/>
          <a:p>
            <a:endParaRPr lang="en-US"/>
          </a:p>
        </p:txBody>
      </p:sp>
      <p:sp>
        <p:nvSpPr>
          <p:cNvPr id="9" name="Text 6"/>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6 · Demo</a:t>
            </a:r>
            <a:endParaRPr lang="en-US" sz="900" dirty="0"/>
          </a:p>
        </p:txBody>
      </p:sp>
      <p:sp>
        <p:nvSpPr>
          <p:cNvPr id="10" name="Text 7"/>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KẾT LUẬN   ·   TỔNG KẾT</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Kết quả và hướng phát triển</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sp>
        <p:nvSpPr>
          <p:cNvPr id="5" name="Shape 3"/>
          <p:cNvSpPr/>
          <p:nvPr/>
        </p:nvSpPr>
        <p:spPr>
          <a:xfrm>
            <a:off x="868680" y="1975104"/>
            <a:ext cx="4998568" cy="3173882"/>
          </a:xfrm>
          <a:prstGeom prst="roundRect">
            <a:avLst>
              <a:gd name="adj" fmla="val 1441"/>
            </a:avLst>
          </a:prstGeom>
          <a:solidFill>
            <a:srgbClr val="FFFFFF"/>
          </a:solidFill>
          <a:ln w="9525">
            <a:solidFill>
              <a:srgbClr val="C9CFCB"/>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868680" y="1975104"/>
            <a:ext cx="4998568" cy="68580"/>
          </a:xfrm>
          <a:prstGeom prst="roundRect">
            <a:avLst>
              <a:gd name="adj" fmla="val 40000"/>
            </a:avLst>
          </a:prstGeom>
          <a:solidFill>
            <a:srgbClr val="C9E2D6"/>
          </a:solidFill>
          <a:ln w="3175">
            <a:solidFill>
              <a:srgbClr val="C9E2D6"/>
            </a:solidFill>
            <a:prstDash val="solid"/>
          </a:ln>
        </p:spPr>
        <p:txBody>
          <a:bodyPr/>
          <a:lstStyle/>
          <a:p>
            <a:endParaRPr lang="en-US"/>
          </a:p>
        </p:txBody>
      </p:sp>
      <p:sp>
        <p:nvSpPr>
          <p:cNvPr id="7" name="Text 5"/>
          <p:cNvSpPr/>
          <p:nvPr/>
        </p:nvSpPr>
        <p:spPr>
          <a:xfrm>
            <a:off x="1124712" y="2176272"/>
            <a:ext cx="4486504" cy="365760"/>
          </a:xfrm>
          <a:prstGeom prst="rect">
            <a:avLst/>
          </a:prstGeom>
          <a:noFill/>
          <a:ln/>
        </p:spPr>
        <p:txBody>
          <a:bodyPr wrap="square" rtlCol="0" anchor="ctr"/>
          <a:lstStyle/>
          <a:p>
            <a:pPr marL="0" indent="0">
              <a:buNone/>
            </a:pPr>
            <a:r>
              <a:rPr lang="en-US" sz="1750" b="1" dirty="0">
                <a:solidFill>
                  <a:srgbClr val="000000"/>
                </a:solidFill>
                <a:latin typeface="+mj-lt" pitchFamily="34" charset="0"/>
                <a:ea typeface="+mj-lt" pitchFamily="34" charset="-122"/>
                <a:cs typeface="+mj-lt" pitchFamily="34" charset="-120"/>
              </a:rPr>
              <a:t>Kết quả đạt được</a:t>
            </a:r>
            <a:endParaRPr lang="en-US" sz="1750" dirty="0"/>
          </a:p>
        </p:txBody>
      </p:sp>
      <p:sp>
        <p:nvSpPr>
          <p:cNvPr id="8" name="Shape 6"/>
          <p:cNvSpPr/>
          <p:nvPr/>
        </p:nvSpPr>
        <p:spPr>
          <a:xfrm>
            <a:off x="1143000" y="2950197"/>
            <a:ext cx="73152" cy="73152"/>
          </a:xfrm>
          <a:prstGeom prst="ellipse">
            <a:avLst/>
          </a:prstGeom>
          <a:solidFill>
            <a:srgbClr val="000000"/>
          </a:solidFill>
          <a:ln/>
        </p:spPr>
        <p:txBody>
          <a:bodyPr/>
          <a:lstStyle/>
          <a:p>
            <a:endParaRPr lang="en-US"/>
          </a:p>
        </p:txBody>
      </p:sp>
      <p:sp>
        <p:nvSpPr>
          <p:cNvPr id="9" name="Text 7"/>
          <p:cNvSpPr/>
          <p:nvPr/>
        </p:nvSpPr>
        <p:spPr>
          <a:xfrm>
            <a:off x="1362456" y="2688336"/>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Xây dựng mạng xã hội du lịch hoàn chỉnh trên Couchbase</a:t>
            </a:r>
            <a:endParaRPr lang="en-US" sz="1350" dirty="0">
              <a:latin typeface="Times New Roman" panose="02020603050405020304" pitchFamily="18" charset="0"/>
              <a:cs typeface="Times New Roman" panose="02020603050405020304" pitchFamily="18" charset="0"/>
            </a:endParaRPr>
          </a:p>
        </p:txBody>
      </p:sp>
      <p:sp>
        <p:nvSpPr>
          <p:cNvPr id="10" name="Shape 8"/>
          <p:cNvSpPr/>
          <p:nvPr/>
        </p:nvSpPr>
        <p:spPr>
          <a:xfrm>
            <a:off x="1143000" y="3547072"/>
            <a:ext cx="73152" cy="73152"/>
          </a:xfrm>
          <a:prstGeom prst="ellipse">
            <a:avLst/>
          </a:prstGeom>
          <a:solidFill>
            <a:srgbClr val="000000"/>
          </a:solidFill>
          <a:ln/>
        </p:spPr>
        <p:txBody>
          <a:bodyPr/>
          <a:lstStyle/>
          <a:p>
            <a:endParaRPr lang="en-US"/>
          </a:p>
        </p:txBody>
      </p:sp>
      <p:sp>
        <p:nvSpPr>
          <p:cNvPr id="11" name="Text 9"/>
          <p:cNvSpPr/>
          <p:nvPr/>
        </p:nvSpPr>
        <p:spPr>
          <a:xfrm>
            <a:off x="1362456" y="3285211"/>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Thiết kế mô hình dữ liệu dạng document cho 5 loại thực thể</a:t>
            </a:r>
            <a:endParaRPr lang="en-US" sz="1350" dirty="0">
              <a:latin typeface="Times New Roman" panose="02020603050405020304" pitchFamily="18" charset="0"/>
              <a:cs typeface="Times New Roman" panose="02020603050405020304" pitchFamily="18" charset="0"/>
            </a:endParaRPr>
          </a:p>
        </p:txBody>
      </p:sp>
      <p:sp>
        <p:nvSpPr>
          <p:cNvPr id="12" name="Shape 10"/>
          <p:cNvSpPr/>
          <p:nvPr/>
        </p:nvSpPr>
        <p:spPr>
          <a:xfrm>
            <a:off x="1143000" y="4143947"/>
            <a:ext cx="73152" cy="73152"/>
          </a:xfrm>
          <a:prstGeom prst="ellipse">
            <a:avLst/>
          </a:prstGeom>
          <a:solidFill>
            <a:srgbClr val="000000"/>
          </a:solidFill>
          <a:ln/>
        </p:spPr>
        <p:txBody>
          <a:bodyPr/>
          <a:lstStyle/>
          <a:p>
            <a:endParaRPr lang="en-US"/>
          </a:p>
        </p:txBody>
      </p:sp>
      <p:sp>
        <p:nvSpPr>
          <p:cNvPr id="13" name="Text 11"/>
          <p:cNvSpPr/>
          <p:nvPr/>
        </p:nvSpPr>
        <p:spPr>
          <a:xfrm>
            <a:off x="1362456" y="3882085"/>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Áp dụng thiết kế khoá để tối ưu chức năng theo dõi</a:t>
            </a:r>
            <a:endParaRPr lang="en-US" sz="1350" dirty="0">
              <a:latin typeface="Times New Roman" panose="02020603050405020304" pitchFamily="18" charset="0"/>
              <a:cs typeface="Times New Roman" panose="02020603050405020304" pitchFamily="18" charset="0"/>
            </a:endParaRPr>
          </a:p>
        </p:txBody>
      </p:sp>
      <p:sp>
        <p:nvSpPr>
          <p:cNvPr id="14" name="Shape 12"/>
          <p:cNvSpPr/>
          <p:nvPr/>
        </p:nvSpPr>
        <p:spPr>
          <a:xfrm>
            <a:off x="1143000" y="4740821"/>
            <a:ext cx="73152" cy="73152"/>
          </a:xfrm>
          <a:prstGeom prst="ellipse">
            <a:avLst/>
          </a:prstGeom>
          <a:solidFill>
            <a:srgbClr val="000000"/>
          </a:solidFill>
          <a:ln/>
        </p:spPr>
        <p:txBody>
          <a:bodyPr/>
          <a:lstStyle/>
          <a:p>
            <a:endParaRPr lang="en-US"/>
          </a:p>
        </p:txBody>
      </p:sp>
      <p:sp>
        <p:nvSpPr>
          <p:cNvPr id="15" name="Text 13"/>
          <p:cNvSpPr/>
          <p:nvPr/>
        </p:nvSpPr>
        <p:spPr>
          <a:xfrm>
            <a:off x="1362456" y="4478960"/>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Tạo index phục vụ các truy vấn chính</a:t>
            </a:r>
            <a:endParaRPr lang="en-US" sz="1350" dirty="0">
              <a:latin typeface="Times New Roman" panose="02020603050405020304" pitchFamily="18" charset="0"/>
              <a:cs typeface="Times New Roman" panose="02020603050405020304" pitchFamily="18" charset="0"/>
            </a:endParaRPr>
          </a:p>
        </p:txBody>
      </p:sp>
      <p:sp>
        <p:nvSpPr>
          <p:cNvPr id="16" name="Shape 14"/>
          <p:cNvSpPr/>
          <p:nvPr/>
        </p:nvSpPr>
        <p:spPr>
          <a:xfrm>
            <a:off x="6324448" y="1975104"/>
            <a:ext cx="4998568" cy="3173882"/>
          </a:xfrm>
          <a:prstGeom prst="roundRect">
            <a:avLst>
              <a:gd name="adj" fmla="val 1441"/>
            </a:avLst>
          </a:prstGeom>
          <a:solidFill>
            <a:srgbClr val="FFFFFF"/>
          </a:solidFill>
          <a:ln w="9525">
            <a:solidFill>
              <a:srgbClr val="C9CFCB"/>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Shape 15"/>
          <p:cNvSpPr/>
          <p:nvPr/>
        </p:nvSpPr>
        <p:spPr>
          <a:xfrm>
            <a:off x="6324448" y="1975104"/>
            <a:ext cx="4998568" cy="68580"/>
          </a:xfrm>
          <a:prstGeom prst="roundRect">
            <a:avLst>
              <a:gd name="adj" fmla="val 40000"/>
            </a:avLst>
          </a:prstGeom>
          <a:solidFill>
            <a:srgbClr val="F0D2BF"/>
          </a:solidFill>
          <a:ln w="3175">
            <a:solidFill>
              <a:srgbClr val="F0D2BF"/>
            </a:solidFill>
            <a:prstDash val="solid"/>
          </a:ln>
        </p:spPr>
        <p:txBody>
          <a:bodyPr/>
          <a:lstStyle/>
          <a:p>
            <a:endParaRPr lang="en-US"/>
          </a:p>
        </p:txBody>
      </p:sp>
      <p:sp>
        <p:nvSpPr>
          <p:cNvPr id="18" name="Text 16"/>
          <p:cNvSpPr/>
          <p:nvPr/>
        </p:nvSpPr>
        <p:spPr>
          <a:xfrm>
            <a:off x="6580480" y="2176272"/>
            <a:ext cx="4486504" cy="365760"/>
          </a:xfrm>
          <a:prstGeom prst="rect">
            <a:avLst/>
          </a:prstGeom>
          <a:noFill/>
          <a:ln/>
        </p:spPr>
        <p:txBody>
          <a:bodyPr wrap="square" rtlCol="0" anchor="ctr"/>
          <a:lstStyle/>
          <a:p>
            <a:pPr marL="0" indent="0">
              <a:buNone/>
            </a:pPr>
            <a:r>
              <a:rPr lang="en-US" sz="1750" b="1" dirty="0">
                <a:solidFill>
                  <a:srgbClr val="000000"/>
                </a:solidFill>
                <a:latin typeface="+mj-lt" pitchFamily="34" charset="0"/>
                <a:ea typeface="+mj-lt" pitchFamily="34" charset="-122"/>
                <a:cs typeface="+mj-lt" pitchFamily="34" charset="-120"/>
              </a:rPr>
              <a:t>Hướng phát triển</a:t>
            </a:r>
            <a:endParaRPr lang="en-US" sz="1750" dirty="0"/>
          </a:p>
        </p:txBody>
      </p:sp>
      <p:sp>
        <p:nvSpPr>
          <p:cNvPr id="19" name="Shape 17"/>
          <p:cNvSpPr/>
          <p:nvPr/>
        </p:nvSpPr>
        <p:spPr>
          <a:xfrm>
            <a:off x="6598768" y="2950197"/>
            <a:ext cx="73152" cy="73152"/>
          </a:xfrm>
          <a:prstGeom prst="ellipse">
            <a:avLst/>
          </a:prstGeom>
          <a:solidFill>
            <a:srgbClr val="000000"/>
          </a:solidFill>
          <a:ln/>
        </p:spPr>
        <p:txBody>
          <a:bodyPr/>
          <a:lstStyle/>
          <a:p>
            <a:endParaRPr lang="en-US"/>
          </a:p>
        </p:txBody>
      </p:sp>
      <p:sp>
        <p:nvSpPr>
          <p:cNvPr id="20" name="Text 18"/>
          <p:cNvSpPr/>
          <p:nvPr/>
        </p:nvSpPr>
        <p:spPr>
          <a:xfrm>
            <a:off x="6818224" y="2688336"/>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Dùng </a:t>
            </a:r>
            <a:r>
              <a:rPr lang="en-US" sz="1350" b="1" dirty="0">
                <a:solidFill>
                  <a:srgbClr val="000000"/>
                </a:solidFill>
                <a:latin typeface="Times New Roman" panose="02020603050405020304" pitchFamily="18" charset="0"/>
                <a:ea typeface="+mn-lt" pitchFamily="34" charset="-122"/>
                <a:cs typeface="Times New Roman" panose="02020603050405020304" pitchFamily="18" charset="0"/>
              </a:rPr>
              <a:t>Full-Text Search</a:t>
            </a: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 thay cho tìm kiếm bằng </a:t>
            </a:r>
            <a:r>
              <a:rPr lang="en-US" sz="1200" dirty="0">
                <a:solidFill>
                  <a:srgbClr val="2C3932"/>
                </a:solidFill>
                <a:latin typeface="Times New Roman" panose="02020603050405020304" pitchFamily="18" charset="0"/>
                <a:ea typeface="Consolas" pitchFamily="34" charset="-122"/>
                <a:cs typeface="Times New Roman" panose="02020603050405020304" pitchFamily="18" charset="0"/>
              </a:rPr>
              <a:t>LIKE</a:t>
            </a:r>
            <a:endParaRPr lang="en-US" sz="1350" dirty="0">
              <a:latin typeface="Times New Roman" panose="02020603050405020304" pitchFamily="18" charset="0"/>
              <a:cs typeface="Times New Roman" panose="02020603050405020304" pitchFamily="18" charset="0"/>
            </a:endParaRPr>
          </a:p>
        </p:txBody>
      </p:sp>
      <p:sp>
        <p:nvSpPr>
          <p:cNvPr id="21" name="Shape 19"/>
          <p:cNvSpPr/>
          <p:nvPr/>
        </p:nvSpPr>
        <p:spPr>
          <a:xfrm>
            <a:off x="6598768" y="3547072"/>
            <a:ext cx="73152" cy="73152"/>
          </a:xfrm>
          <a:prstGeom prst="ellipse">
            <a:avLst/>
          </a:prstGeom>
          <a:solidFill>
            <a:srgbClr val="000000"/>
          </a:solidFill>
          <a:ln/>
        </p:spPr>
        <p:txBody>
          <a:bodyPr/>
          <a:lstStyle/>
          <a:p>
            <a:endParaRPr lang="en-US"/>
          </a:p>
        </p:txBody>
      </p:sp>
      <p:sp>
        <p:nvSpPr>
          <p:cNvPr id="22" name="Text 20"/>
          <p:cNvSpPr/>
          <p:nvPr/>
        </p:nvSpPr>
        <p:spPr>
          <a:xfrm>
            <a:off x="6818224" y="3285211"/>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Áp dụng </a:t>
            </a:r>
            <a:r>
              <a:rPr lang="en-US" sz="1350" b="1" dirty="0">
                <a:solidFill>
                  <a:srgbClr val="000000"/>
                </a:solidFill>
                <a:latin typeface="Times New Roman" panose="02020603050405020304" pitchFamily="18" charset="0"/>
                <a:ea typeface="+mn-lt" pitchFamily="34" charset="-122"/>
                <a:cs typeface="Times New Roman" panose="02020603050405020304" pitchFamily="18" charset="0"/>
              </a:rPr>
              <a:t>transaction</a:t>
            </a: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 cho thao tác theo dõi</a:t>
            </a:r>
            <a:endParaRPr lang="en-US" sz="1350" dirty="0">
              <a:latin typeface="Times New Roman" panose="02020603050405020304" pitchFamily="18" charset="0"/>
              <a:cs typeface="Times New Roman" panose="02020603050405020304" pitchFamily="18" charset="0"/>
            </a:endParaRPr>
          </a:p>
        </p:txBody>
      </p:sp>
      <p:sp>
        <p:nvSpPr>
          <p:cNvPr id="23" name="Shape 21"/>
          <p:cNvSpPr/>
          <p:nvPr/>
        </p:nvSpPr>
        <p:spPr>
          <a:xfrm>
            <a:off x="6598768" y="4143947"/>
            <a:ext cx="73152" cy="73152"/>
          </a:xfrm>
          <a:prstGeom prst="ellipse">
            <a:avLst/>
          </a:prstGeom>
          <a:solidFill>
            <a:srgbClr val="000000"/>
          </a:solidFill>
          <a:ln/>
        </p:spPr>
        <p:txBody>
          <a:bodyPr/>
          <a:lstStyle/>
          <a:p>
            <a:endParaRPr lang="en-US"/>
          </a:p>
        </p:txBody>
      </p:sp>
      <p:sp>
        <p:nvSpPr>
          <p:cNvPr id="24" name="Text 22"/>
          <p:cNvSpPr/>
          <p:nvPr/>
        </p:nvSpPr>
        <p:spPr>
          <a:xfrm>
            <a:off x="6818224" y="3882085"/>
            <a:ext cx="4230472" cy="596875"/>
          </a:xfrm>
          <a:prstGeom prst="rect">
            <a:avLst/>
          </a:prstGeom>
          <a:noFill/>
          <a:ln/>
        </p:spPr>
        <p:txBody>
          <a:bodyPr wrap="square" rtlCol="0" anchor="ctr">
            <a:normAutofit/>
          </a:bodyPr>
          <a:lstStyle/>
          <a:p>
            <a:pPr marL="0" indent="0">
              <a:buNone/>
            </a:pP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Bật </a:t>
            </a:r>
            <a:r>
              <a:rPr lang="en-US" sz="1350" b="1" dirty="0">
                <a:solidFill>
                  <a:srgbClr val="000000"/>
                </a:solidFill>
                <a:latin typeface="Times New Roman" panose="02020603050405020304" pitchFamily="18" charset="0"/>
                <a:ea typeface="+mn-lt" pitchFamily="34" charset="-122"/>
                <a:cs typeface="Times New Roman" panose="02020603050405020304" pitchFamily="18" charset="0"/>
              </a:rPr>
              <a:t>replica</a:t>
            </a:r>
            <a:r>
              <a:rPr lang="en-US" sz="1350" dirty="0">
                <a:solidFill>
                  <a:srgbClr val="2C3932"/>
                </a:solidFill>
                <a:latin typeface="Times New Roman" panose="02020603050405020304" pitchFamily="18" charset="0"/>
                <a:ea typeface="+mn-lt" pitchFamily="34" charset="-122"/>
                <a:cs typeface="Times New Roman" panose="02020603050405020304" pitchFamily="18" charset="0"/>
              </a:rPr>
              <a:t> để tăng độ an toàn dữ liệu</a:t>
            </a:r>
            <a:endParaRPr lang="en-US" sz="1350" dirty="0">
              <a:latin typeface="Times New Roman" panose="02020603050405020304" pitchFamily="18" charset="0"/>
              <a:cs typeface="Times New Roman" panose="02020603050405020304" pitchFamily="18" charset="0"/>
            </a:endParaRPr>
          </a:p>
        </p:txBody>
      </p:sp>
      <p:sp>
        <p:nvSpPr>
          <p:cNvPr id="25" name="Shape 23"/>
          <p:cNvSpPr/>
          <p:nvPr/>
        </p:nvSpPr>
        <p:spPr>
          <a:xfrm>
            <a:off x="868680" y="5961888"/>
            <a:ext cx="10454335" cy="7315"/>
          </a:xfrm>
          <a:prstGeom prst="rect">
            <a:avLst/>
          </a:prstGeom>
          <a:solidFill>
            <a:srgbClr val="C9CFCB"/>
          </a:solidFill>
          <a:ln/>
        </p:spPr>
        <p:txBody>
          <a:bodyPr/>
          <a:lstStyle/>
          <a:p>
            <a:endParaRPr lang="en-US"/>
          </a:p>
        </p:txBody>
      </p:sp>
      <p:sp>
        <p:nvSpPr>
          <p:cNvPr id="26" name="Text 24"/>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Kết luận</a:t>
            </a:r>
            <a:endParaRPr lang="en-US" sz="900" dirty="0"/>
          </a:p>
        </p:txBody>
      </p:sp>
      <p:sp>
        <p:nvSpPr>
          <p:cNvPr id="27" name="Text 25"/>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68680" y="1874520"/>
            <a:ext cx="10454335" cy="274320"/>
          </a:xfrm>
          <a:prstGeom prst="rect">
            <a:avLst/>
          </a:prstGeom>
          <a:noFill/>
          <a:ln/>
        </p:spPr>
        <p:txBody>
          <a:bodyPr wrap="square" rtlCol="0" anchor="ctr"/>
          <a:lstStyle/>
          <a:p>
            <a:pPr marL="0" indent="0">
              <a:buNone/>
            </a:pPr>
            <a:r>
              <a:rPr lang="en-US" sz="1100" b="1" kern="0" spc="220" dirty="0">
                <a:solidFill>
                  <a:srgbClr val="6E7C75"/>
                </a:solidFill>
                <a:latin typeface="+mn-lt" pitchFamily="34" charset="0"/>
                <a:ea typeface="+mn-lt" pitchFamily="34" charset="-122"/>
                <a:cs typeface="+mn-lt" pitchFamily="34" charset="-120"/>
              </a:rPr>
              <a:t>XIN CẢM ƠN</a:t>
            </a:r>
            <a:endParaRPr lang="en-US" sz="1100" dirty="0"/>
          </a:p>
        </p:txBody>
      </p:sp>
      <p:sp>
        <p:nvSpPr>
          <p:cNvPr id="3" name="Text 1"/>
          <p:cNvSpPr/>
          <p:nvPr/>
        </p:nvSpPr>
        <p:spPr>
          <a:xfrm>
            <a:off x="822960" y="2240280"/>
            <a:ext cx="10454335" cy="1737360"/>
          </a:xfrm>
          <a:prstGeom prst="rect">
            <a:avLst/>
          </a:prstGeom>
          <a:noFill/>
          <a:ln/>
        </p:spPr>
        <p:txBody>
          <a:bodyPr wrap="square" rtlCol="0" anchor="t">
            <a:normAutofit/>
          </a:bodyPr>
          <a:lstStyle/>
          <a:p>
            <a:pPr marL="0" indent="0">
              <a:lnSpc>
                <a:spcPct val="100000"/>
              </a:lnSpc>
              <a:buNone/>
            </a:pPr>
            <a:r>
              <a:rPr lang="en-US" sz="5400" b="1" dirty="0">
                <a:solidFill>
                  <a:srgbClr val="000000"/>
                </a:solidFill>
                <a:latin typeface="+mj-lt" pitchFamily="34" charset="0"/>
                <a:ea typeface="+mj-lt" pitchFamily="34" charset="-122"/>
                <a:cs typeface="+mj-lt" pitchFamily="34" charset="-120"/>
              </a:rPr>
              <a:t>Cảm ơn thầy</a:t>
            </a:r>
            <a:endParaRPr lang="en-US" sz="5400" dirty="0"/>
          </a:p>
          <a:p>
            <a:pPr marL="0" indent="0">
              <a:lnSpc>
                <a:spcPct val="100000"/>
              </a:lnSpc>
              <a:buNone/>
            </a:pPr>
            <a:r>
              <a:rPr lang="en-US" sz="5400" b="1" dirty="0">
                <a:solidFill>
                  <a:srgbClr val="000000"/>
                </a:solidFill>
                <a:latin typeface="+mj-lt" pitchFamily="34" charset="0"/>
                <a:ea typeface="+mj-lt" pitchFamily="34" charset="-122"/>
                <a:cs typeface="+mj-lt" pitchFamily="34" charset="-120"/>
              </a:rPr>
              <a:t>và các bạn</a:t>
            </a:r>
            <a:endParaRPr lang="en-US" sz="5400" dirty="0"/>
          </a:p>
        </p:txBody>
      </p:sp>
      <p:sp>
        <p:nvSpPr>
          <p:cNvPr id="4" name="Shape 2"/>
          <p:cNvSpPr/>
          <p:nvPr/>
        </p:nvSpPr>
        <p:spPr>
          <a:xfrm>
            <a:off x="868680" y="4133088"/>
            <a:ext cx="1051560" cy="20117"/>
          </a:xfrm>
          <a:prstGeom prst="rect">
            <a:avLst/>
          </a:prstGeom>
          <a:solidFill>
            <a:srgbClr val="000000"/>
          </a:solidFill>
          <a:ln/>
        </p:spPr>
        <p:txBody>
          <a:bodyPr/>
          <a:lstStyle/>
          <a:p>
            <a:endParaRPr lang="en-US"/>
          </a:p>
        </p:txBody>
      </p:sp>
      <p:sp>
        <p:nvSpPr>
          <p:cNvPr id="5" name="Text 3"/>
          <p:cNvSpPr/>
          <p:nvPr/>
        </p:nvSpPr>
        <p:spPr>
          <a:xfrm>
            <a:off x="868680" y="4407408"/>
            <a:ext cx="9539935" cy="1371600"/>
          </a:xfrm>
          <a:prstGeom prst="rect">
            <a:avLst/>
          </a:prstGeom>
          <a:noFill/>
          <a:ln/>
        </p:spPr>
        <p:txBody>
          <a:bodyPr wrap="square" rtlCol="0" anchor="t"/>
          <a:lstStyle/>
          <a:p>
            <a:pPr marL="0" indent="0">
              <a:lnSpc>
                <a:spcPct val="145000"/>
              </a:lnSpc>
              <a:buNone/>
            </a:pPr>
            <a:r>
              <a:rPr lang="en-US" sz="1300" dirty="0">
                <a:solidFill>
                  <a:srgbClr val="2C3932"/>
                </a:solidFill>
                <a:latin typeface="+mn-lt" pitchFamily="34" charset="0"/>
                <a:ea typeface="+mn-lt" pitchFamily="34" charset="-122"/>
                <a:cs typeface="+mn-lt" pitchFamily="34" charset="-120"/>
              </a:rPr>
              <a:t>Nhóm em xin nhận câu hỏi ạ</a:t>
            </a:r>
            <a:endParaRPr lang="en-US" sz="1300" dirty="0"/>
          </a:p>
        </p:txBody>
      </p:sp>
      <p:sp>
        <p:nvSpPr>
          <p:cNvPr id="6" name="Shape 4"/>
          <p:cNvSpPr/>
          <p:nvPr/>
        </p:nvSpPr>
        <p:spPr>
          <a:xfrm>
            <a:off x="10442448" y="1938528"/>
            <a:ext cx="274320" cy="274320"/>
          </a:xfrm>
          <a:prstGeom prst="ellipse">
            <a:avLst/>
          </a:prstGeom>
          <a:solidFill>
            <a:srgbClr val="C9E2D6"/>
          </a:solidFill>
          <a:ln/>
        </p:spPr>
        <p:txBody>
          <a:bodyPr/>
          <a:lstStyle/>
          <a:p>
            <a:endParaRPr lang="en-US"/>
          </a:p>
        </p:txBody>
      </p:sp>
      <p:sp>
        <p:nvSpPr>
          <p:cNvPr id="7" name="Shape 5"/>
          <p:cNvSpPr/>
          <p:nvPr/>
        </p:nvSpPr>
        <p:spPr>
          <a:xfrm>
            <a:off x="10826496" y="1938528"/>
            <a:ext cx="274320" cy="274320"/>
          </a:xfrm>
          <a:prstGeom prst="ellipse">
            <a:avLst/>
          </a:prstGeom>
          <a:solidFill>
            <a:srgbClr val="F0D2BF"/>
          </a:solidFill>
          <a:ln/>
        </p:spPr>
        <p:txBody>
          <a:bodyPr/>
          <a:lstStyle/>
          <a:p>
            <a:endParaRPr lang="en-US"/>
          </a:p>
        </p:txBody>
      </p:sp>
      <p:sp>
        <p:nvSpPr>
          <p:cNvPr id="8" name="Shape 6"/>
          <p:cNvSpPr/>
          <p:nvPr/>
        </p:nvSpPr>
        <p:spPr>
          <a:xfrm>
            <a:off x="11210544" y="1938528"/>
            <a:ext cx="274320" cy="274320"/>
          </a:xfrm>
          <a:prstGeom prst="ellipse">
            <a:avLst/>
          </a:prstGeom>
          <a:solidFill>
            <a:srgbClr val="DBE7F5"/>
          </a:solidFill>
          <a:ln/>
        </p:spPr>
        <p:txBody>
          <a:bodyPr/>
          <a:lstStyle/>
          <a:p>
            <a:endParaRPr lang="en-US"/>
          </a:p>
        </p:txBody>
      </p:sp>
      <p:sp>
        <p:nvSpPr>
          <p:cNvPr id="9" name="Shape 7"/>
          <p:cNvSpPr/>
          <p:nvPr/>
        </p:nvSpPr>
        <p:spPr>
          <a:xfrm>
            <a:off x="868680" y="5961888"/>
            <a:ext cx="10454335" cy="7315"/>
          </a:xfrm>
          <a:prstGeom prst="rect">
            <a:avLst/>
          </a:prstGeom>
          <a:solidFill>
            <a:srgbClr val="C9CFCB"/>
          </a:solidFill>
          <a:ln/>
        </p:spPr>
        <p:txBody>
          <a:bodyPr/>
          <a:lstStyle/>
          <a:p>
            <a:endParaRPr lang="en-US"/>
          </a:p>
        </p:txBody>
      </p:sp>
      <p:sp>
        <p:nvSpPr>
          <p:cNvPr id="10" name="Text 8"/>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Kết luận</a:t>
            </a:r>
            <a:endParaRPr lang="en-US" sz="900" dirty="0"/>
          </a:p>
        </p:txBody>
      </p:sp>
      <p:sp>
        <p:nvSpPr>
          <p:cNvPr id="11" name="Text 9"/>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68680" y="658368"/>
            <a:ext cx="10454335" cy="237744"/>
          </a:xfrm>
          <a:prstGeom prst="rect">
            <a:avLst/>
          </a:prstGeom>
          <a:noFill/>
          <a:ln/>
        </p:spPr>
        <p:txBody>
          <a:bodyPr wrap="square" rtlCol="0" anchor="ctr"/>
          <a:lstStyle/>
          <a:p>
            <a:pPr marL="0" indent="0">
              <a:buNone/>
            </a:pPr>
            <a:r>
              <a:rPr lang="en-US" sz="950" b="1" kern="0" spc="180" dirty="0">
                <a:solidFill>
                  <a:srgbClr val="6E7C75"/>
                </a:solidFill>
                <a:latin typeface="+mn-lt" pitchFamily="34" charset="0"/>
                <a:ea typeface="+mn-lt" pitchFamily="34" charset="-122"/>
                <a:cs typeface="+mn-lt" pitchFamily="34" charset="-120"/>
              </a:rPr>
              <a:t>SLIDE DỰ PHÒNG   ·   CHỈ MỞ KHI ĐƯỢC HỎI</a:t>
            </a:r>
            <a:endParaRPr lang="en-US" sz="950" dirty="0"/>
          </a:p>
        </p:txBody>
      </p:sp>
      <p:sp>
        <p:nvSpPr>
          <p:cNvPr id="3" name="Text 1"/>
          <p:cNvSpPr/>
          <p:nvPr/>
        </p:nvSpPr>
        <p:spPr>
          <a:xfrm>
            <a:off x="832104" y="914400"/>
            <a:ext cx="10454335" cy="786384"/>
          </a:xfrm>
          <a:prstGeom prst="rect">
            <a:avLst/>
          </a:prstGeom>
          <a:noFill/>
          <a:ln/>
        </p:spPr>
        <p:txBody>
          <a:bodyPr wrap="square" rtlCol="0" anchor="t">
            <a:normAutofit/>
          </a:bodyPr>
          <a:lstStyle/>
          <a:p>
            <a:pPr marL="0" indent="0">
              <a:buNone/>
            </a:pPr>
            <a:r>
              <a:rPr lang="en-US" sz="2900" b="1" dirty="0">
                <a:solidFill>
                  <a:srgbClr val="000000"/>
                </a:solidFill>
                <a:latin typeface="+mj-lt" pitchFamily="34" charset="0"/>
                <a:ea typeface="+mj-lt" pitchFamily="34" charset="-122"/>
                <a:cs typeface="+mj-lt" pitchFamily="34" charset="-120"/>
              </a:rPr>
              <a:t>Câu hỏi thường gặp</a:t>
            </a:r>
            <a:endParaRPr lang="en-US" sz="2900" dirty="0"/>
          </a:p>
        </p:txBody>
      </p:sp>
      <p:sp>
        <p:nvSpPr>
          <p:cNvPr id="4" name="Shape 2"/>
          <p:cNvSpPr/>
          <p:nvPr/>
        </p:nvSpPr>
        <p:spPr>
          <a:xfrm>
            <a:off x="868680" y="1755648"/>
            <a:ext cx="868680" cy="20117"/>
          </a:xfrm>
          <a:prstGeom prst="rect">
            <a:avLst/>
          </a:prstGeom>
          <a:solidFill>
            <a:srgbClr val="000000"/>
          </a:solidFill>
          <a:ln/>
        </p:spPr>
        <p:txBody>
          <a:bodyPr/>
          <a:lstStyle/>
          <a:p>
            <a:endParaRPr lang="en-US"/>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68680" y="1975104"/>
          <a:ext cx="10454335" cy="3700426"/>
        </p:xfrm>
        <a:graphic>
          <a:graphicData uri="http://schemas.openxmlformats.org/drawingml/2006/table">
            <a:tbl>
              <a:tblPr/>
              <a:tblGrid>
                <a:gridCol w="3576271">
                  <a:extLst>
                    <a:ext uri="{9D8B030D-6E8A-4147-A177-3AD203B41FA5}">
                      <a16:colId xmlns:a16="http://schemas.microsoft.com/office/drawing/2014/main" val="20000"/>
                    </a:ext>
                  </a:extLst>
                </a:gridCol>
                <a:gridCol w="6878064">
                  <a:extLst>
                    <a:ext uri="{9D8B030D-6E8A-4147-A177-3AD203B41FA5}">
                      <a16:colId xmlns:a16="http://schemas.microsoft.com/office/drawing/2014/main" val="20001"/>
                    </a:ext>
                  </a:extLst>
                </a:gridCol>
              </a:tblGrid>
              <a:tr h="325526">
                <a:tc>
                  <a:txBody>
                    <a:bodyPr/>
                    <a:lstStyle/>
                    <a:p>
                      <a:pPr marL="0" indent="0">
                        <a:buNone/>
                      </a:pPr>
                      <a:r>
                        <a:rPr lang="en-US" sz="950" b="1" kern="0" spc="60" dirty="0">
                          <a:solidFill>
                            <a:srgbClr val="000000"/>
                          </a:solidFill>
                          <a:latin typeface="+mn-lt" pitchFamily="34" charset="0"/>
                          <a:ea typeface="+mn-lt" pitchFamily="34" charset="-122"/>
                          <a:cs typeface="+mn-lt" pitchFamily="34" charset="-120"/>
                        </a:rPr>
                        <a:t>CÂU HỎI</a:t>
                      </a:r>
                      <a:endParaRPr lang="en-US" sz="950" dirty="0">
                        <a:latin typeface="+mn-lt" charset="0"/>
                        <a:ea typeface="+mn-lt" charset="0"/>
                        <a:cs typeface="+mn-lt"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tc>
                  <a:txBody>
                    <a:bodyPr/>
                    <a:lstStyle/>
                    <a:p>
                      <a:pPr marL="0" indent="0">
                        <a:buNone/>
                      </a:pPr>
                      <a:r>
                        <a:rPr lang="en-US" sz="950" b="1" kern="0" spc="60" dirty="0">
                          <a:solidFill>
                            <a:srgbClr val="000000"/>
                          </a:solidFill>
                          <a:latin typeface="+mn-lt" pitchFamily="34" charset="0"/>
                          <a:ea typeface="+mn-lt" pitchFamily="34" charset="-122"/>
                          <a:cs typeface="+mn-lt" pitchFamily="34" charset="-120"/>
                        </a:rPr>
                        <a:t>TRẢ LỜI</a:t>
                      </a:r>
                      <a:endParaRPr lang="en-US" sz="950" dirty="0">
                        <a:latin typeface="+mn-lt" charset="0"/>
                        <a:ea typeface="+mn-lt" charset="0"/>
                        <a:cs typeface="+mn-lt" charset="0"/>
                      </a:endParaRPr>
                    </a:p>
                  </a:txBody>
                  <a:tcPr marL="118872" marR="118872" anchor="ctr">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DF6EA"/>
                    </a:solidFill>
                  </a:tcPr>
                </a:tc>
                <a:extLst>
                  <a:ext uri="{0D108BD9-81ED-4DB2-BD59-A6C34878D82A}">
                    <a16:rowId xmlns:a16="http://schemas.microsoft.com/office/drawing/2014/main" val="10000"/>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Sao không dùng MySQL?</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dirty="0">
                          <a:solidFill>
                            <a:srgbClr val="2C3932"/>
                          </a:solidFill>
                          <a:latin typeface="+mn-lt" pitchFamily="34" charset="0"/>
                          <a:ea typeface="+mn-lt" pitchFamily="34" charset="-122"/>
                          <a:cs typeface="+mn-lt" pitchFamily="34" charset="-120"/>
                        </a:rPr>
                        <a:t>Dữ liệu lồng nhau nhiều tầng; chuẩn hoá ra bảng thì mỗi lần hiển thị phải JOIN 6 bảng. Couchbase lưu nguyên vẹn, đọc một lần là xong.</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Không có khoá ngoại thì đảm bảo toàn vẹn thế nào?</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dirty="0">
                          <a:solidFill>
                            <a:srgbClr val="2C3932"/>
                          </a:solidFill>
                          <a:latin typeface="+mn-lt" pitchFamily="34" charset="0"/>
                          <a:ea typeface="+mn-lt" pitchFamily="34" charset="-122"/>
                          <a:cs typeface="+mn-lt" pitchFamily="34" charset="-120"/>
                        </a:rPr>
                        <a:t>Do code ứng dụng kiểm tra, ở hai lớp: khi nhận dữ liệu từ web, và trước khi ghi xuống CSDL.</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Xoá người dùng thì bài viết của họ ra sao?</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dirty="0">
                          <a:solidFill>
                            <a:srgbClr val="2C3932"/>
                          </a:solidFill>
                          <a:latin typeface="+mn-lt" pitchFamily="34" charset="0"/>
                          <a:ea typeface="+mn-lt" pitchFamily="34" charset="-122"/>
                          <a:cs typeface="+mn-lt" pitchFamily="34" charset="-120"/>
                        </a:rPr>
                        <a:t>Không có ON DELETE CASCADE. Nhóm em đánh dấu tài khoản là "deleted" rồi lọc khi hiển thị, thay vì xoá thật.</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NoSQL có transaction không?</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dirty="0">
                          <a:solidFill>
                            <a:srgbClr val="2C3932"/>
                          </a:solidFill>
                          <a:latin typeface="+mn-lt" pitchFamily="34" charset="0"/>
                          <a:ea typeface="+mn-lt" pitchFamily="34" charset="-122"/>
                          <a:cs typeface="+mn-lt" pitchFamily="34" charset="-120"/>
                        </a:rPr>
                        <a:t>Có. Couchbase hỗ trợ transaction ACID từ phiên bản 6.5. Nhóm em chưa dùng vì nó làm chậm.</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Couchbase khác MongoDB chỗ nào?</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dirty="0">
                          <a:solidFill>
                            <a:srgbClr val="2C3932"/>
                          </a:solidFill>
                          <a:latin typeface="+mn-lt" pitchFamily="34" charset="0"/>
                          <a:ea typeface="+mn-lt" pitchFamily="34" charset="-122"/>
                          <a:cs typeface="+mn-lt" pitchFamily="34" charset="-120"/>
                        </a:rPr>
                        <a:t>Couchbase cho viết câu lệnh giống SQL, MongoDB dùng cú pháp riêng. Couchbase cũng có sẵn bộ nhớ đệm nên đọc nhanh hơn.</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6108">
                <a:tc>
                  <a:txBody>
                    <a:bodyPr/>
                    <a:lstStyle/>
                    <a:p>
                      <a:pPr marL="0" indent="0">
                        <a:buNone/>
                      </a:pPr>
                      <a:r>
                        <a:rPr lang="en-US" sz="1100" dirty="0">
                          <a:solidFill>
                            <a:srgbClr val="2C3932"/>
                          </a:solidFill>
                          <a:latin typeface="+mn-lt" pitchFamily="34" charset="0"/>
                          <a:ea typeface="+mn-lt" pitchFamily="34" charset="-122"/>
                          <a:cs typeface="+mn-lt" pitchFamily="34" charset="-120"/>
                        </a:rPr>
                        <a:t>Đồ án có dùng index không?</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tc>
                  <a:txBody>
                    <a:bodyPr/>
                    <a:lstStyle/>
                    <a:p>
                      <a:pPr marL="0" indent="0">
                        <a:buNone/>
                      </a:pPr>
                      <a:r>
                        <a:rPr lang="en-US" sz="1100" b="1" dirty="0">
                          <a:solidFill>
                            <a:srgbClr val="000000"/>
                          </a:solidFill>
                          <a:latin typeface="+mn-lt" pitchFamily="34" charset="0"/>
                          <a:ea typeface="+mn-lt" pitchFamily="34" charset="-122"/>
                          <a:cs typeface="+mn-lt" pitchFamily="34" charset="-120"/>
                        </a:rPr>
                        <a:t>Có. Nhóm em tạo 23 index cho các trường hay tìm kiếm — ví dụ index trên email phục vụ đăng nhập, index trên authorId để lấy bài viết của một người. Riêng cách lấy theo khoá thì không cần index vì khoá đã là địa chỉ sẵn.</a:t>
                      </a:r>
                      <a:endParaRPr lang="en-US" sz="1100" dirty="0">
                        <a:latin typeface="+mn-lt" charset="0"/>
                        <a:ea typeface="+mn-lt" charset="0"/>
                        <a:cs typeface="+mn-lt" charset="0"/>
                      </a:endParaRPr>
                    </a:p>
                  </a:txBody>
                  <a:tcPr marL="118872" marR="118872">
                    <a:lnL w="9525" cap="flat" cmpd="sng" algn="ctr">
                      <a:solidFill>
                        <a:srgbClr val="C9CFCB"/>
                      </a:solidFill>
                      <a:prstDash val="solid"/>
                      <a:round/>
                      <a:headEnd type="none" w="med" len="med"/>
                      <a:tailEnd type="none" w="med" len="med"/>
                    </a:lnL>
                    <a:lnR w="9525" cap="flat" cmpd="sng" algn="ctr">
                      <a:solidFill>
                        <a:srgbClr val="C9CFCB"/>
                      </a:solidFill>
                      <a:prstDash val="solid"/>
                      <a:round/>
                      <a:headEnd type="none" w="med" len="med"/>
                      <a:tailEnd type="none" w="med" len="med"/>
                    </a:lnR>
                    <a:lnT w="9525" cap="flat" cmpd="sng" algn="ctr">
                      <a:solidFill>
                        <a:srgbClr val="C9CFCB"/>
                      </a:solidFill>
                      <a:prstDash val="solid"/>
                      <a:round/>
                      <a:headEnd type="none" w="med" len="med"/>
                      <a:tailEnd type="none" w="med" len="med"/>
                    </a:lnT>
                    <a:lnB w="9525" cap="flat" cmpd="sng" algn="ctr">
                      <a:solidFill>
                        <a:srgbClr val="C9CF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868680" y="5961888"/>
            <a:ext cx="10454335" cy="7315"/>
          </a:xfrm>
          <a:prstGeom prst="rect">
            <a:avLst/>
          </a:prstGeom>
          <a:solidFill>
            <a:srgbClr val="C9CFCB"/>
          </a:solidFill>
          <a:ln/>
        </p:spPr>
        <p:txBody>
          <a:bodyPr/>
          <a:lstStyle/>
          <a:p>
            <a:endParaRPr lang="en-US"/>
          </a:p>
        </p:txBody>
      </p:sp>
      <p:sp>
        <p:nvSpPr>
          <p:cNvPr id="7" name="Text 4"/>
          <p:cNvSpPr/>
          <p:nvPr/>
        </p:nvSpPr>
        <p:spPr>
          <a:xfrm>
            <a:off x="868680" y="6035040"/>
            <a:ext cx="6400800" cy="237744"/>
          </a:xfrm>
          <a:prstGeom prst="rect">
            <a:avLst/>
          </a:prstGeom>
          <a:noFill/>
          <a:ln/>
        </p:spPr>
        <p:txBody>
          <a:bodyPr wrap="square" rtlCol="0" anchor="ctr"/>
          <a:lstStyle/>
          <a:p>
            <a:pPr marL="0" indent="0">
              <a:buNone/>
            </a:pPr>
            <a:r>
              <a:rPr lang="en-US" sz="900" kern="0" spc="80" dirty="0">
                <a:solidFill>
                  <a:srgbClr val="6E7C75"/>
                </a:solidFill>
                <a:latin typeface="+mn-lt" pitchFamily="34" charset="0"/>
                <a:ea typeface="+mn-lt" pitchFamily="34" charset="-122"/>
                <a:cs typeface="+mn-lt" pitchFamily="34" charset="-120"/>
              </a:rPr>
              <a:t>Dự phòng</a:t>
            </a:r>
            <a:endParaRPr lang="en-US" sz="900" dirty="0"/>
          </a:p>
        </p:txBody>
      </p:sp>
      <p:sp>
        <p:nvSpPr>
          <p:cNvPr id="8" name="Text 5"/>
          <p:cNvSpPr/>
          <p:nvPr/>
        </p:nvSpPr>
        <p:spPr>
          <a:xfrm>
            <a:off x="8579815" y="6035040"/>
            <a:ext cx="2743200" cy="237744"/>
          </a:xfrm>
          <a:prstGeom prst="rect">
            <a:avLst/>
          </a:prstGeom>
          <a:noFill/>
          <a:ln/>
        </p:spPr>
        <p:txBody>
          <a:bodyPr wrap="square" rtlCol="0" anchor="ctr"/>
          <a:lstStyle/>
          <a:p>
            <a:pPr marL="0" indent="0" algn="r">
              <a:buNone/>
            </a:pPr>
            <a:r>
              <a:rPr lang="en-US" sz="900" dirty="0">
                <a:solidFill>
                  <a:srgbClr val="6E7C75"/>
                </a:solidFill>
                <a:latin typeface="+mn-lt" pitchFamily="34" charset="0"/>
                <a:ea typeface="+mn-lt" pitchFamily="34" charset="-122"/>
                <a:cs typeface="+mn-lt" pitchFamily="34" charset="-120"/>
              </a:rPr>
              <a:t>22 / 22</a:t>
            </a:r>
            <a:endParaRPr lang="en-US" sz="900" dirty="0"/>
          </a:p>
        </p:txBody>
      </p:sp>
    </p:spTree>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5657</Words>
  <Application>Microsoft Office PowerPoint</Application>
  <PresentationFormat>Widescreen</PresentationFormat>
  <Paragraphs>387</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Consolas</vt:lpstr>
      <vt:lpstr>Lora</vt:lpstr>
      <vt:lpstr>Poppins Light</vt:lpstr>
      <vt:lpstr>Times New Roman</vt:lpstr>
      <vt:lpstr>Gradient Circle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Đồ án môn Cơ sở dữ liệu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Network — Bảo vệ đồ án</dc:title>
  <dc:subject>PptxGenJS Presentation</dc:subject>
  <dc:creator>Travel Network</dc:creator>
  <cp:lastModifiedBy>Le Doan Quang Huy</cp:lastModifiedBy>
  <cp:revision>2</cp:revision>
  <dcterms:created xsi:type="dcterms:W3CDTF">2026-08-27T14:41:07Z</dcterms:created>
  <dcterms:modified xsi:type="dcterms:W3CDTF">2026-08-27T15:04:16Z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2026-08-27T15:04:16Z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cd5e5a7d-d9a4-481c-9404-88ee76b764ea</vt:lpwstr>
  </property>
  <property fmtid="{D5CDD505-2E9C-101B-9397-08002B2CF9AE}" pid="7" name="MSIP_Label_defa4170-0d19-0005-0004-bc88714345d2_ActionId">
    <vt:lpwstr>85ca52d1-9354-4643-b51b-a893f62b46bf</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